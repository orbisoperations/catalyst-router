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108960"/>
            <a:ext cx="7772400" cy="5486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630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 Router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85800" y="32918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BGP-Inspired Service Discovery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Envoy Data Plane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Demo Walkthrough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52A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10515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127101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pod layout and control/data plane split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52A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BGP-Inspired Routing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81965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orchestrator discovers and propagates services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52A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1488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Authorization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36829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ES384 JWTs, Cedar policies, and scoped clients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52A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6974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Gap: mTLS Roadmap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291693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and where certificate binding fits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52A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3246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 as Transport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346557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xDS control plane and listener/cluster 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52A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794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Architecture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1560" y="401421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3-stack Docker Compose with 8 isolated networks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3434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52A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Multi-Hop Walkthrough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456285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request from Stack C through B to 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node is a self-contained pod with control plane + data plane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1325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0" y="1554480"/>
            <a:ext cx="5029200" cy="1828800"/>
          </a:xfrm>
          <a:prstGeom prst="rect">
            <a:avLst>
              <a:gd name="adj" fmla="val 5000"/>
            </a:avLst>
          </a:prstGeom>
          <a:solidFill>
            <a:srgbClr val="1E2233"/>
          </a:solidFill>
          <a:ln w="12700">
            <a:solidFill>
              <a:srgbClr val="3A4055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0" y="18288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252A3A"/>
          </a:solidFill>
          <a:ln w="15240">
            <a:solidFill>
              <a:srgbClr val="4A9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25603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52A3A"/>
          </a:solidFill>
          <a:ln w="15240">
            <a:solidFill>
              <a:srgbClr val="FF8C4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0" y="25603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52A3A"/>
          </a:solidFill>
          <a:ln w="15240">
            <a:solidFill>
              <a:srgbClr val="A37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(xDS)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flipH="1">
            <a:off x="2331720" y="2331720"/>
            <a:ext cx="868680" cy="228600"/>
          </a:xfrm>
          <a:prstGeom prst="line">
            <a:avLst/>
          </a:prstGeom>
          <a:noFill/>
          <a:ln w="15240">
            <a:solidFill>
              <a:srgbClr val="8B95A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331720" y="233172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RPC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0" y="2331720"/>
            <a:ext cx="868680" cy="228600"/>
          </a:xfrm>
          <a:prstGeom prst="line">
            <a:avLst/>
          </a:prstGeom>
          <a:noFill/>
          <a:ln w="15240">
            <a:solidFill>
              <a:srgbClr val="8B95A5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114800" y="233172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71600" y="3520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379476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252A3A"/>
          </a:solidFill>
          <a:ln w="15240">
            <a:solidFill>
              <a:srgbClr val="A37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 Proxy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flipH="1">
            <a:off x="3886200" y="3017520"/>
            <a:ext cx="1097280" cy="777240"/>
          </a:xfrm>
          <a:prstGeom prst="line">
            <a:avLst/>
          </a:prstGeom>
          <a:noFill/>
          <a:ln w="15240">
            <a:solidFill>
              <a:srgbClr val="A37EFF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886200" y="32004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xDS gRPC (ADS)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379476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252A3A"/>
          </a:solidFill>
          <a:ln w="15240">
            <a:solidFill>
              <a:srgbClr val="00D1B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4041648"/>
            <a:ext cx="1188720" cy="914"/>
          </a:xfrm>
          <a:prstGeom prst="line">
            <a:avLst/>
          </a:prstGeom>
          <a:noFill/>
          <a:ln w="15240">
            <a:solidFill>
              <a:srgbClr val="8B95A5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371600" y="38404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/ gRPC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00800" y="37947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252A3A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Nodes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12080" y="4041648"/>
            <a:ext cx="1188720" cy="914"/>
          </a:xfrm>
          <a:prstGeom prst="line">
            <a:avLst/>
          </a:prstGeom>
          <a:noFill/>
          <a:ln w="15240">
            <a:solidFill>
              <a:srgbClr val="8B95A5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212080" y="38404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 Mesh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0" y="18288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252A3A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2075688"/>
            <a:ext cx="1828800" cy="914"/>
          </a:xfrm>
          <a:prstGeom prst="line">
            <a:avLst/>
          </a:prstGeom>
          <a:noFill/>
          <a:ln w="15240">
            <a:solidFill>
              <a:srgbClr val="8B95A5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572000" y="18745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RPC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" y="4526280"/>
            <a:ext cx="8046720" cy="411480"/>
          </a:xfrm>
          <a:prstGeom prst="roundRect">
            <a:avLst>
              <a:gd name="adj" fmla="val 13333"/>
            </a:avLst>
          </a:prstGeom>
          <a:solidFill>
            <a:srgbClr val="252A3A"/>
          </a:solidFill>
          <a:ln w="19050">
            <a:solidFill>
              <a:srgbClr val="4A9EFF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decides routing policy. Envoy executes traffic forwarding. Auth gates every operation.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BGP-Inspired Routing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Adapted from the internet's routing protocol for service-level discovery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BGP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IP prefixes (10.0.0.0/24)</a:t>
            </a:r>
            <a:endParaRPr lang="en-US" sz="13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hop = IP address</a:t>
            </a:r>
            <a:endParaRPr lang="en-US" sz="13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AS_PATH prevents routing loops</a:t>
            </a:r>
            <a:endParaRPr lang="en-US" sz="13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Forwarding at IP layer</a:t>
            </a:r>
            <a:endParaRPr lang="en-US" sz="13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iBGP within an AS, eBGP between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 Routing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37760" y="164592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service names (books-api)</a:t>
            </a:r>
            <a:endParaRPr lang="en-US" sz="13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hop = Node FQDN + Envoy port</a:t>
            </a:r>
            <a:endParaRPr lang="en-US" sz="13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nodePath prevents routing loops</a:t>
            </a:r>
            <a:endParaRPr lang="en-US" sz="13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Forwarding via Envoy proxy</a:t>
            </a:r>
            <a:endParaRPr lang="en-US" sz="13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iBGP implemented, eBGP reserved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8046720" cy="914400"/>
        </p:xfrm>
        <a:graphic>
          <a:graphicData uri="http://schemas.openxmlformats.org/drawingml/2006/table">
            <a:tbl>
              <a:tblPr/>
              <a:tblGrid>
                <a:gridCol w="2682240"/>
                <a:gridCol w="2682240"/>
                <a:gridCol w="26822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BGP Concept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Catalyst Equivalent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9E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Autonomous System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somebiz.local.io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CIDR Prefix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Name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books-api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AS_PATH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nodePath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["node-b", "node-a"]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Hop IP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envoyAddress + envoyPort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envoy-proxy-a:10001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 message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InternalProtocolUpdate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 action: "add", route, nodePath }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Peering Protocol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Three-stage handshake with full table sync on connect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37360" y="13716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252A3A"/>
          </a:solidFill>
          <a:ln w="15240">
            <a:solidFill>
              <a:srgbClr val="4A9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852160" y="13716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252A3A"/>
          </a:solidFill>
          <a:ln w="15240">
            <a:solidFill>
              <a:srgbClr val="00D1B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1737360"/>
            <a:ext cx="914" cy="2377440"/>
          </a:xfrm>
          <a:prstGeom prst="line">
            <a:avLst/>
          </a:prstGeom>
          <a:noFill/>
          <a:ln w="12700">
            <a:solidFill>
              <a:srgbClr val="3A405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400800" y="1737360"/>
            <a:ext cx="914" cy="2377440"/>
          </a:xfrm>
          <a:prstGeom prst="line">
            <a:avLst/>
          </a:prstGeom>
          <a:noFill/>
          <a:ln w="12700">
            <a:solidFill>
              <a:srgbClr val="3A405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286000" y="2011680"/>
            <a:ext cx="4114800" cy="914"/>
          </a:xfrm>
          <a:prstGeom prst="line">
            <a:avLst/>
          </a:prstGeom>
          <a:noFill/>
          <a:ln w="15240">
            <a:solidFill>
              <a:srgbClr val="4A9EFF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286000" y="18105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addPeer(B) -&gt; open(nodeA_info)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 flipH="1">
            <a:off x="2286000" y="2468880"/>
            <a:ext cx="4114800" cy="914"/>
          </a:xfrm>
          <a:prstGeom prst="line">
            <a:avLst/>
          </a:prstGeom>
          <a:noFill/>
          <a:ln w="15240">
            <a:solidFill>
              <a:srgbClr val="00D1B2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286000" y="22677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InternalProtocolOpen -&gt; sync full route table to 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0" y="2926080"/>
            <a:ext cx="4114800" cy="914"/>
          </a:xfrm>
          <a:prstGeom prst="line">
            <a:avLst/>
          </a:prstGeom>
          <a:noFill/>
          <a:ln w="15240">
            <a:solidFill>
              <a:srgbClr val="4A9EFF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286000" y="27249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InternalProtocolConnected -&gt; sync full route table to B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0" y="3383280"/>
            <a:ext cx="4114800" cy="914"/>
          </a:xfrm>
          <a:prstGeom prst="line">
            <a:avLst/>
          </a:prstGeom>
          <a:noFill/>
          <a:ln w="1524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286000" y="31821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InternalProtocolUpdate (ongoing)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 flipH="1">
            <a:off x="2286000" y="3657600"/>
            <a:ext cx="4114800" cy="914"/>
          </a:xfrm>
          <a:prstGeom prst="line">
            <a:avLst/>
          </a:prstGeom>
          <a:noFill/>
          <a:ln w="1524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286000" y="345643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Route adds/removes propagate bidirectionally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251960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252A3A"/>
          </a:solidFill>
          <a:ln w="19050">
            <a:solidFill>
              <a:srgbClr val="FF8C42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Prevention: every route carries nodePath[] — an ordered list of node FQDNs it has traversed. If a node sees itself in the path, the route is dropped.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Table &amp; Action/Reducer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Event-sourced state management inspired by Redux + BGP RIB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252A3A"/>
          </a:solidFill>
          <a:ln w="15240">
            <a:solidFill>
              <a:srgbClr val="4A9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(Event)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737360" y="1709928"/>
            <a:ext cx="365760" cy="914"/>
          </a:xfrm>
          <a:prstGeom prst="line">
            <a:avLst/>
          </a:prstGeom>
          <a:noFill/>
          <a:ln w="15240">
            <a:solidFill>
              <a:srgbClr val="4A9EFF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103120" y="141732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252A3A"/>
          </a:solidFill>
          <a:ln w="15240">
            <a:solidFill>
              <a:srgbClr val="00D1B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(Sync Reducer)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49040" y="1709928"/>
            <a:ext cx="365760" cy="914"/>
          </a:xfrm>
          <a:prstGeom prst="line">
            <a:avLst/>
          </a:prstGeom>
          <a:noFill/>
          <a:ln w="15240">
            <a:solidFill>
              <a:srgbClr val="00D1B2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114800" y="141732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252A3A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State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0" y="1709928"/>
            <a:ext cx="365760" cy="914"/>
          </a:xfrm>
          <a:prstGeom prst="line">
            <a:avLst/>
          </a:prstGeom>
          <a:noFill/>
          <a:ln w="1524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669280" y="141732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252A3A"/>
          </a:solidFill>
          <a:ln w="15240">
            <a:solidFill>
              <a:srgbClr val="A37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handleNotify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(Async Effects)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0" y="1709928"/>
            <a:ext cx="365760" cy="914"/>
          </a:xfrm>
          <a:prstGeom prst="line">
            <a:avLst/>
          </a:prstGeom>
          <a:noFill/>
          <a:ln w="15240">
            <a:solidFill>
              <a:srgbClr val="A37EFF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680960" y="141732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252A3A"/>
          </a:solidFill>
          <a:ln w="15240">
            <a:solidFill>
              <a:srgbClr val="FF8C4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RPC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Peers/Envoy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9E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local.routes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DataChannelDefinition[]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 / Admin API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Services this node originates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internal.peers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PeerRecord[]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addPeer / protocol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Connected peer state + peerToken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internal.routes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InternalRoute[]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UPDATE msgs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Services learned from iBGP peers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(reserved)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Future eBGP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Cross-domain federation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Types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3794760"/>
            <a:ext cx="8046720" cy="10972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/>
        </p:spPr>
        <p:txBody>
          <a:bodyPr wrap="square" lIns="76200" tIns="127000" rIns="127000" bIns="762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Peer Management         Route Management        Protocol (iBGP)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       ──────────────────      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LocalPeerCreate         LocalRouteCreate        InternalProtocolOpen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LocalPeerUpdate         LocalRouteDelete        InternalProtocolClose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LocalPeerDelete                                 InternalProtocolConnected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InternalProtocolUpdate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Authentication: ES384 JWTs + Cedar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RPC call is gated by token validation and Cedar policy evaluation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4572000" cy="2286000"/>
          </a:xfrm>
          <a:prstGeom prst="roundRect">
            <a:avLst>
              <a:gd name="adj" fmla="val 2400"/>
            </a:avLst>
          </a:prstGeom>
          <a:solidFill>
            <a:srgbClr val="0D1117"/>
          </a:solidFill>
          <a:ln/>
        </p:spPr>
        <p:txBody>
          <a:bodyPr wrap="square" lIns="76200" tIns="127000" rIns="127000" bIns="762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"alg": "ES384",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"sub": "node-a.somebiz.local.io",      // Subject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"iss": "catalyst",                      // Issuer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"principal": "CATALYST::NODE",           // Cedar principal 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"entity":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"trustedDomains": ["somebiz.local.io"],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"trustedNodes":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"cnf": { "x5t#S256": "..." },           // Future: cert binding (RFC 8705)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"jti": "unique-id", "exp": ..., "iat":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9496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Types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554480"/>
          <a:ext cx="33832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Principal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8C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Permissions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8C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actions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IBGP_CONNECT, UPDATE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NODE_CUSTODIAN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PEER_*, IBGP_*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DATA_CUSTODIAN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ROUTE_CREATE, DELETE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Client Model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02336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252A3A"/>
          </a:solidFill>
          <a:ln w="15240">
            <a:solidFill>
              <a:srgbClr val="4A9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NetworkClient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(Peer Mgmt)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08960" y="402336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252A3A"/>
          </a:solidFill>
          <a:ln w="15240">
            <a:solidFill>
              <a:srgbClr val="00D1B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DataChannel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(Routes)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0" y="402336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252A3A"/>
          </a:solidFill>
          <a:ln w="15240">
            <a:solidFill>
              <a:srgbClr val="A37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IBGPClient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(Internal Protocol)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663440"/>
            <a:ext cx="8046720" cy="320040"/>
          </a:xfrm>
          <a:prstGeom prst="roundRect">
            <a:avLst>
              <a:gd name="adj" fmla="val 17143"/>
            </a:avLst>
          </a:prstGeom>
          <a:solidFill>
            <a:srgbClr val="252A3A"/>
          </a:solidFill>
          <a:ln w="19050">
            <a:solidFill>
              <a:srgbClr val="FF8C42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Cedar policy engine evaluates: Can this principal perform this action on this resource?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Token Exchange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node has its OWN auth service — cross-minting enables peering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252A3A"/>
          </a:solidFill>
          <a:ln w="15240">
            <a:solidFill>
              <a:srgbClr val="4A9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0" y="13716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252A3A"/>
          </a:solidFill>
          <a:ln w="15240">
            <a:solidFill>
              <a:srgbClr val="FF8C4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Auth-B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(Node B's Auth)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75120" y="137160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252A3A"/>
          </a:solidFill>
          <a:ln w="15240">
            <a:solidFill>
              <a:srgbClr val="00D1B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1874520"/>
            <a:ext cx="914" cy="1965960"/>
          </a:xfrm>
          <a:prstGeom prst="line">
            <a:avLst/>
          </a:prstGeom>
          <a:noFill/>
          <a:ln w="12700">
            <a:solidFill>
              <a:srgbClr val="3A405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389120" y="1874520"/>
            <a:ext cx="914" cy="1965960"/>
          </a:xfrm>
          <a:prstGeom prst="line">
            <a:avLst/>
          </a:prstGeom>
          <a:noFill/>
          <a:ln w="12700">
            <a:solidFill>
              <a:srgbClr val="3A4055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315200" y="1874520"/>
            <a:ext cx="914" cy="1965960"/>
          </a:xfrm>
          <a:prstGeom prst="line">
            <a:avLst/>
          </a:prstGeom>
          <a:noFill/>
          <a:ln w="12700">
            <a:solidFill>
              <a:srgbClr val="3A4055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74320" y="212140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2194560"/>
            <a:ext cx="3017520" cy="914"/>
          </a:xfrm>
          <a:prstGeom prst="line">
            <a:avLst/>
          </a:prstGeom>
          <a:noFill/>
          <a:ln w="15240">
            <a:solidFill>
              <a:srgbClr val="FF8C42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371600" y="19933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 peer token for Node 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" y="253288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H="1">
            <a:off x="1371600" y="2606040"/>
            <a:ext cx="3017520" cy="914"/>
          </a:xfrm>
          <a:prstGeom prst="line">
            <a:avLst/>
          </a:prstGeom>
          <a:noFill/>
          <a:ln w="15240">
            <a:solidFill>
              <a:srgbClr val="FF8C42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371600" y="24048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signed by Auth-B returned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4320" y="294436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0" y="3017520"/>
            <a:ext cx="5943600" cy="914"/>
          </a:xfrm>
          <a:prstGeom prst="line">
            <a:avLst/>
          </a:prstGeom>
          <a:noFill/>
          <a:ln w="15240">
            <a:solidFill>
              <a:srgbClr val="4A9EFF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371600" y="281635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+ present peerToken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" y="335584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flipH="1">
            <a:off x="4389120" y="3429000"/>
            <a:ext cx="2926080" cy="914"/>
          </a:xfrm>
          <a:prstGeom prst="line">
            <a:avLst/>
          </a:prstGeom>
          <a:noFill/>
          <a:ln w="15240">
            <a:solidFill>
              <a:srgbClr val="00D1B2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389120" y="322783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token with local Auth-B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4320" y="37947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794760"/>
            <a:ext cx="8046720" cy="320040"/>
          </a:xfrm>
          <a:prstGeom prst="roundRect">
            <a:avLst>
              <a:gd name="adj" fmla="val 17143"/>
            </a:avLst>
          </a:prstGeom>
          <a:solidFill>
            <a:srgbClr val="252A3A"/>
          </a:solidFill>
          <a:ln w="19050">
            <a:solidFill>
              <a:srgbClr val="4ADE80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iBGP session established — bidirectional route sync begins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251960"/>
            <a:ext cx="8046720" cy="411480"/>
          </a:xfrm>
          <a:prstGeom prst="roundRect">
            <a:avLst>
              <a:gd name="adj" fmla="val 13333"/>
            </a:avLst>
          </a:prstGeom>
          <a:solidFill>
            <a:srgbClr val="252A3A"/>
          </a:solidFill>
          <a:ln w="19050">
            <a:solidFill>
              <a:srgbClr val="FF5C5C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The peerToken is the ONLY credential used. If it is missing or invalid, connection fails with CRITICAL error.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Gap: Where mTLS Will Be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JWT-only auth vs future certificate-bound tokens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57600" cy="2011680"/>
          </a:xfrm>
          <a:prstGeom prst="rect">
            <a:avLst>
              <a:gd name="adj" fmla="val 3636"/>
            </a:avLst>
          </a:prstGeom>
          <a:solidFill>
            <a:srgbClr val="252A3A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over unencrypted WebSocket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alone is sufficient to authenticate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channel binding to transport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theft = full impersonation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Sufficient for dev/testing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mTLS + DPoP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37760" y="1645920"/>
            <a:ext cx="3840480" cy="2011680"/>
          </a:xfrm>
          <a:prstGeom prst="rect">
            <a:avLst>
              <a:gd name="adj" fmla="val 3636"/>
            </a:avLst>
          </a:prstGeom>
          <a:solidFill>
            <a:srgbClr val="252A3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73736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TLS on all peer connections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cnf claim binds JWT to cert (RFC 8705)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thumbprint matching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Sender-constrained: token useless without key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security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2377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Already in Place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36576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structure has cnf claim field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store tracks certificateFingerprint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0007 specifies the architecture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Missing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4114800"/>
            <a:ext cx="38404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termination on WebSocket endpoints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certificate validation in Hono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Thumbprint matching during token verify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Envoy: xDS Control Plane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(Aggregated Discovery Service) over gRPC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252A3A"/>
          </a:solidFill>
          <a:ln w="15240">
            <a:solidFill>
              <a:srgbClr val="4A9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03120" y="1892808"/>
            <a:ext cx="640080" cy="914"/>
          </a:xfrm>
          <a:prstGeom prst="line">
            <a:avLst/>
          </a:prstGeom>
          <a:noFill/>
          <a:ln w="15240">
            <a:solidFill>
              <a:srgbClr val="8B95A5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103120" y="16916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Capnweb RPC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0" y="16459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252A3A"/>
          </a:solidFill>
          <a:ln w="15240">
            <a:solidFill>
              <a:srgbClr val="A37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(xDS Server)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892808"/>
            <a:ext cx="640080" cy="914"/>
          </a:xfrm>
          <a:prstGeom prst="line">
            <a:avLst/>
          </a:prstGeom>
          <a:noFill/>
          <a:ln w="15240">
            <a:solidFill>
              <a:srgbClr val="8B95A5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572000" y="16916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gRPC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12080" y="16459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252A3A"/>
          </a:solidFill>
          <a:ln w="15240">
            <a:solidFill>
              <a:srgbClr val="A37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 Proxy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(Data Plane)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3774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252A3A"/>
          </a:solidFill>
          <a:ln w="15240">
            <a:solidFill>
              <a:srgbClr val="252A3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2148840"/>
            <a:ext cx="914" cy="228600"/>
          </a:xfrm>
          <a:prstGeom prst="line">
            <a:avLst/>
          </a:prstGeom>
          <a:noFill/>
          <a:ln w="12700">
            <a:solidFill>
              <a:srgbClr val="A37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17520"/>
            <a:ext cx="457200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gRPC stream carries all resource types (ADS)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of the World (SotW) — full config push each snapshot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 sent before LDS (prevents traffic blackholing)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Version-based ACK/NACK for consistency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Resource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37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37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Naming Pattern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37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37E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Ingress Listener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ingress_{channel}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ingress_books-api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Egress Listener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egress_{channel}_via_{peer}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egress_books-api_via_node-b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Cluster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local_{channel}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local_books-api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Remote Cluster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remote_{channel}_via_{peer}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remote_books-api_via_node-b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 &amp; Cluster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serves remote peers — Egress reaches remote services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(serving remote peers)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252A3A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Peer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1920240"/>
            <a:ext cx="365760" cy="914"/>
          </a:xfrm>
          <a:prstGeom prst="line">
            <a:avLst/>
          </a:prstGeom>
          <a:noFill/>
          <a:ln w="15240">
            <a:solidFill>
              <a:srgbClr val="00D1B2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194560" y="169164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252A3A"/>
          </a:solidFill>
          <a:ln w="15240">
            <a:solidFill>
              <a:srgbClr val="A37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ingress_books-api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:10001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0" y="1920240"/>
            <a:ext cx="365760" cy="914"/>
          </a:xfrm>
          <a:prstGeom prst="line">
            <a:avLst/>
          </a:prstGeom>
          <a:noFill/>
          <a:ln w="15240">
            <a:solidFill>
              <a:srgbClr val="00D1B2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389120" y="1691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52A3A"/>
          </a:solidFill>
          <a:ln w="15240">
            <a:solidFill>
              <a:srgbClr val="A37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local_books-api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920240"/>
            <a:ext cx="365760" cy="914"/>
          </a:xfrm>
          <a:prstGeom prst="line">
            <a:avLst/>
          </a:prstGeom>
          <a:noFill/>
          <a:ln w="15240">
            <a:solidFill>
              <a:srgbClr val="00D1B2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309360" y="169164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252A3A"/>
          </a:solidFill>
          <a:ln w="15240">
            <a:solidFill>
              <a:srgbClr val="00D1B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books:8080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EGRESS (reaching remote services)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88036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252A3A"/>
          </a:solidFill>
          <a:ln w="15240">
            <a:solidFill>
              <a:srgbClr val="4A9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App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3108960"/>
            <a:ext cx="365760" cy="914"/>
          </a:xfrm>
          <a:prstGeom prst="line">
            <a:avLst/>
          </a:prstGeom>
          <a:noFill/>
          <a:ln w="15240">
            <a:solidFill>
              <a:srgbClr val="FF8C42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194560" y="28803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252A3A"/>
          </a:solidFill>
          <a:ln w="15240">
            <a:solidFill>
              <a:srgbClr val="A37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egress_books-api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_via_node-a :10011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0" y="3108960"/>
            <a:ext cx="365760" cy="914"/>
          </a:xfrm>
          <a:prstGeom prst="line">
            <a:avLst/>
          </a:prstGeom>
          <a:noFill/>
          <a:ln w="15240">
            <a:solidFill>
              <a:srgbClr val="FF8C42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572000" y="28803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252A3A"/>
          </a:solidFill>
          <a:ln w="15240">
            <a:solidFill>
              <a:srgbClr val="A37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remote_books-api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_via_node-a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3108960"/>
            <a:ext cx="365760" cy="914"/>
          </a:xfrm>
          <a:prstGeom prst="line">
            <a:avLst/>
          </a:prstGeom>
          <a:noFill/>
          <a:ln w="15240">
            <a:solidFill>
              <a:srgbClr val="FF8C42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766560" y="28803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252A3A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:10001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Protocol-Aware Configuration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Protocol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37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37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WebSocket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37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37E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HTTP/1.1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http:graphql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HTTP/1.1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(subscriptions)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Disabled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http:grpc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HTTP/2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Disabled (streaming)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48640" y="4617720"/>
            <a:ext cx="8046720" cy="320040"/>
          </a:xfrm>
          <a:prstGeom prst="roundRect">
            <a:avLst>
              <a:gd name="adj" fmla="val 17143"/>
            </a:avLst>
          </a:prstGeom>
          <a:solidFill>
            <a:srgbClr val="252A3A"/>
          </a:solidFill>
          <a:ln w="19050">
            <a:solidFill>
              <a:srgbClr val="A37EFF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allocation: sequential from configurable pool. Each service gets a unique listener port.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3-Stack Demo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&lt;-&gt; B &lt;-&gt; C topology — B is transit, no direct A-C peering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011680" cy="2743200"/>
          </a:xfrm>
          <a:prstGeom prst="rect">
            <a:avLst>
              <a:gd name="adj" fmla="val 4545"/>
            </a:avLst>
          </a:prstGeom>
          <a:solidFill>
            <a:srgbClr val="1E2233"/>
          </a:solidFill>
          <a:ln w="19050">
            <a:solidFill>
              <a:srgbClr val="4A9EFF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64592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252A3A"/>
          </a:solidFill>
          <a:ln w="15240">
            <a:solidFill>
              <a:srgbClr val="FF8C4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Auth-A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252A3A"/>
          </a:solidFill>
          <a:ln w="15240">
            <a:solidFill>
              <a:srgbClr val="4A9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Orchestrator-A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252A3A"/>
          </a:solidFill>
          <a:ln w="15240">
            <a:solidFill>
              <a:srgbClr val="A37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 (xDS)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252A3A"/>
          </a:solidFill>
          <a:ln w="15240">
            <a:solidFill>
              <a:srgbClr val="A37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 Proxy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252A3A"/>
          </a:solidFill>
          <a:ln w="15240">
            <a:solidFill>
              <a:srgbClr val="00D1B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books-a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1280160"/>
            <a:ext cx="2011680" cy="2743200"/>
          </a:xfrm>
          <a:prstGeom prst="rect">
            <a:avLst>
              <a:gd name="adj" fmla="val 4545"/>
            </a:avLst>
          </a:prstGeom>
          <a:solidFill>
            <a:srgbClr val="1E2233"/>
          </a:solidFill>
          <a:ln w="19050">
            <a:solidFill>
              <a:srgbClr val="00D1B2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566160" y="1280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03320" y="164592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252A3A"/>
          </a:solidFill>
          <a:ln w="15240">
            <a:solidFill>
              <a:srgbClr val="FF8C4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Auth-B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03320" y="210312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252A3A"/>
          </a:solidFill>
          <a:ln w="15240">
            <a:solidFill>
              <a:srgbClr val="4A9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Orchestrator-B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03320" y="256032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252A3A"/>
          </a:solidFill>
          <a:ln w="15240">
            <a:solidFill>
              <a:srgbClr val="A37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 (xDS)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03320" y="301752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252A3A"/>
          </a:solidFill>
          <a:ln w="15240">
            <a:solidFill>
              <a:srgbClr val="A37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 Proxy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03320" y="347472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252A3A"/>
          </a:solidFill>
          <a:ln w="15240">
            <a:solidFill>
              <a:srgbClr val="00D1B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books-b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280160"/>
            <a:ext cx="2011680" cy="2743200"/>
          </a:xfrm>
          <a:prstGeom prst="rect">
            <a:avLst>
              <a:gd name="adj" fmla="val 4545"/>
            </a:avLst>
          </a:prstGeom>
          <a:solidFill>
            <a:srgbClr val="1E2233"/>
          </a:solidFill>
          <a:ln w="19050">
            <a:solidFill>
              <a:srgbClr val="FF8C42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400800" y="1280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164592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252A3A"/>
          </a:solidFill>
          <a:ln w="15240">
            <a:solidFill>
              <a:srgbClr val="FF8C4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Auth-C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210312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252A3A"/>
          </a:solidFill>
          <a:ln w="15240">
            <a:solidFill>
              <a:srgbClr val="4A9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Orchestrator-C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256032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252A3A"/>
          </a:solidFill>
          <a:ln w="15240">
            <a:solidFill>
              <a:srgbClr val="A37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 (xDS)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301752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252A3A"/>
          </a:solidFill>
          <a:ln w="15240">
            <a:solidFill>
              <a:srgbClr val="A37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 Proxy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347472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252A3A"/>
          </a:solidFill>
          <a:ln w="15240">
            <a:solidFill>
              <a:srgbClr val="00D1B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curl-client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0" y="2276856"/>
            <a:ext cx="3657600" cy="914"/>
          </a:xfrm>
          <a:prstGeom prst="line">
            <a:avLst/>
          </a:prstGeom>
          <a:noFill/>
          <a:ln w="12700">
            <a:solidFill>
              <a:srgbClr val="4A9EFF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743200" y="209397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9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orchestrator-mesh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743200" y="3191256"/>
            <a:ext cx="3657600" cy="914"/>
          </a:xfrm>
          <a:prstGeom prst="line">
            <a:avLst/>
          </a:prstGeom>
          <a:noFill/>
          <a:ln w="12700">
            <a:solidFill>
              <a:srgbClr val="A37EFF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2743200" y="32186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37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envoy-mesh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48640" y="4160520"/>
            <a:ext cx="8046720" cy="274320"/>
          </a:xfrm>
          <a:prstGeom prst="roundRect">
            <a:avLst>
              <a:gd name="adj" fmla="val 20000"/>
            </a:avLst>
          </a:prstGeom>
          <a:solidFill>
            <a:srgbClr val="252A3A"/>
          </a:solidFill>
          <a:ln w="19050">
            <a:solidFill>
              <a:srgbClr val="4ADE80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&lt;-&gt; B  and  B &lt;-&gt; C  (B is transit node)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Docker Networks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isolation — control plane and data plane never cross stacks except via mesh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Subnet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9E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stack-a-control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auth-a, orch-a, envoy-svc-a, envoy-proxy-a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172.28.1.0/28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stack-a-data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envoy-proxy-a, books-a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172.28.1.16/28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stack-b-control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auth-b, orch-b, envoy-svc-b, envoy-proxy-b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172.28.2.0/28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stack-b-data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envoy-proxy-b, books-b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172.28.2.16/28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stack-c-control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auth-c, orch-c, envoy-svc-c, envoy-proxy-c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172.28.3.0/28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stack-c-data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envoy-proxy-c, curl-client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172.28.3.16/28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orchestrator-mesh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Cross-stack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orch-a, orch-b, orch-c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172.28.10.0/28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envoy-mesh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Cross-stack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envoy-proxy-a, envoy-proxy-b, envoy-proxy-c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172.28.11.0/28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Principles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3931920"/>
            <a:ext cx="822960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services are stack-local only (no cross-stack auth access)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services (books, curl) cannot reach other stacks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orchestrators and envoy proxies join cross-stack meshes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mesh (BGP) and data plane mesh (traffic) are separate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Walkthrough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cold start to cross-node GraphQL query in 8 steps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8C4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Auth Services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stack mints its own system admin token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8C4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System Tokens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tokens from container logs for CLI use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Full Stacks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containers across 8 networks come 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D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840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Routes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1148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books-a on Stack A, books-b on Stack 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2344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8C4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 Peer Tokens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1508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Cross-auth token exchange for A&lt;-&gt;B, B&lt;-&gt;C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1031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Peer Connections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12080" y="23774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iBGP sessions establish, full table sync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971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Route Propagation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32461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C learns both books-a and books-b via transit 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840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3840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Traffic Test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41148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 from Stack C queries books-a on Stack A (2-hop)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Multi-Hop: C -&gt; B -&gt; 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request from Stack C reaches a service on Stack A through transit node 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" y="137160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252A3A"/>
          </a:solidFill>
          <a:ln w="15240">
            <a:solidFill>
              <a:srgbClr val="FF8C4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curl-client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(Stack C)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0" y="1645920"/>
            <a:ext cx="274320" cy="914"/>
          </a:xfrm>
          <a:prstGeom prst="line">
            <a:avLst/>
          </a:prstGeom>
          <a:noFill/>
          <a:ln w="15240">
            <a:solidFill>
              <a:srgbClr val="FF8C42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1920240" y="137160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252A3A"/>
          </a:solidFill>
          <a:ln w="15240">
            <a:solidFill>
              <a:srgbClr val="A37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envoy-proxy-c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(egress)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645920"/>
            <a:ext cx="274320" cy="914"/>
          </a:xfrm>
          <a:prstGeom prst="line">
            <a:avLst/>
          </a:prstGeom>
          <a:noFill/>
          <a:ln w="15240">
            <a:solidFill>
              <a:srgbClr val="A37EFF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657600" y="137160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252A3A"/>
          </a:solidFill>
          <a:ln w="15240">
            <a:solidFill>
              <a:srgbClr val="A37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envoy-proxy-b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(transit)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0" y="1645920"/>
            <a:ext cx="274320" cy="914"/>
          </a:xfrm>
          <a:prstGeom prst="line">
            <a:avLst/>
          </a:prstGeom>
          <a:noFill/>
          <a:ln w="15240">
            <a:solidFill>
              <a:srgbClr val="A37EFF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394960" y="137160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252A3A"/>
          </a:solidFill>
          <a:ln w="15240">
            <a:solidFill>
              <a:srgbClr val="A37E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envoy-proxy-a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(ingress)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1645920"/>
            <a:ext cx="274320" cy="914"/>
          </a:xfrm>
          <a:prstGeom prst="line">
            <a:avLst/>
          </a:prstGeom>
          <a:noFill/>
          <a:ln w="15240">
            <a:solidFill>
              <a:srgbClr val="00D1B2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132320" y="137160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252A3A"/>
          </a:solidFill>
          <a:ln w="15240">
            <a:solidFill>
              <a:srgbClr val="00D1B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books-a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19385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37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envoy-mesh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20240" y="2066544"/>
            <a:ext cx="4937760" cy="914"/>
          </a:xfrm>
          <a:prstGeom prst="line">
            <a:avLst/>
          </a:prstGeom>
          <a:noFill/>
          <a:ln w="12700">
            <a:solidFill>
              <a:srgbClr val="A37EF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4864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Rewriting at Each Hop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8046720" cy="914400"/>
        </p:xfrm>
        <a:graphic>
          <a:graphicData uri="http://schemas.openxmlformats.org/drawingml/2006/table">
            <a:tbl>
              <a:tblPr/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nodePath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envoyPort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9E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Stack 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["node-b", "node-a"]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envoy-proxy-b:10012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Egress (2 hops)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Stack 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["node-a"]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envoy-proxy-a:10001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Stack 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books:8080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Ingress (origin)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A3A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3794760"/>
            <a:ext cx="8046720" cy="411480"/>
          </a:xfrm>
          <a:prstGeom prst="roundRect">
            <a:avLst>
              <a:gd name="adj" fmla="val 13333"/>
            </a:avLst>
          </a:prstGeom>
          <a:solidFill>
            <a:srgbClr val="252A3A"/>
          </a:solidFill>
          <a:ln w="19050">
            <a:solidFill>
              <a:srgbClr val="A37EFF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node re-advertises routes with its own egress port. The nodePath grows at each hop, enabling loop detection.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What's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0" y="1188720"/>
            <a:ext cx="914" cy="3017520"/>
          </a:xfrm>
          <a:prstGeom prst="line">
            <a:avLst/>
          </a:prstGeom>
          <a:noFill/>
          <a:ln w="12700">
            <a:solidFill>
              <a:srgbClr val="3A4055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BGP-inspired service discovery (iBGP)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Action/reducer event-sourced state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ES384 JWT + Cedar authorization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Envoy xDS data plane (LDS + CDS)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Multi-hop cross-node routing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3-stack demo with full isolation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mTLS channel binding (RFC 8705)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eBGP for cross-domain federation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RDS/EDS for advanced traffic mgmt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Certificate rotation automation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92608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GraphQL federation over the mesh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29184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Keepalive / hold timer support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8046720" cy="365760"/>
          </a:xfrm>
          <a:prstGeom prst="roundRect">
            <a:avLst>
              <a:gd name="adj" fmla="val 15000"/>
            </a:avLst>
          </a:prstGeom>
          <a:solidFill>
            <a:srgbClr val="252A3A"/>
          </a:solidFill>
          <a:ln w="19050">
            <a:solidFill>
              <a:srgbClr val="4A9EFF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 Router — Distributed service mesh, one node at a time.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Catalyst Router</dc:title>
  <dc:subject>Architecture &amp; Demo Walkthrough</dc:subject>
  <dc:creator>Catalyst Team</dc:creator>
  <cp:lastModifiedBy>Catalyst Team</cp:lastModifiedBy>
  <cp:revision>1</cp:revision>
  <dcterms:created xsi:type="dcterms:W3CDTF">2026-02-12T14:26:37Z</dcterms:created>
  <dcterms:modified xsi:type="dcterms:W3CDTF">2026-02-12T14:26:37Z</dcterms:modified>
</cp:coreProperties>
</file>