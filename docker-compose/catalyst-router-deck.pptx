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80E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108960"/>
            <a:ext cx="7772400" cy="5486"/>
          </a:xfrm>
          <a:prstGeom prst="rect">
            <a:avLst/>
          </a:prstGeom>
          <a:solidFill>
            <a:srgbClr val="2D4BA9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110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2D4BA9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1097280"/>
            <a:ext cx="5029200" cy="5029200"/>
          </a:xfrm>
          <a:prstGeom prst="ellipse">
            <a:avLst/>
          </a:prstGeom>
          <a:noFill/>
          <a:ln w="10160">
            <a:solidFill>
              <a:srgbClr val="2D4BA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457200"/>
            <a:ext cx="3474720" cy="3474720"/>
          </a:xfrm>
          <a:prstGeom prst="ellipse">
            <a:avLst/>
          </a:prstGeom>
          <a:noFill/>
          <a:ln w="6350">
            <a:solidFill>
              <a:srgbClr val="2D4BA9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685800" y="128016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Catalyst Router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85800" y="329184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BGP-Inspired Service Discovery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Envoy Data Plane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&amp; Demo Walkthrough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1560" y="10515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BGP?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27101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Decentralized, graduated trust, fully dynamic — minimal adoption cost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16002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Related: Ziti + Zenoh Stack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181965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Overlay-first vs proxy-first — how they differ and intermix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14884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1488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BGP-Inspired Routing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236829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orchestrator discovers and propagates services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6974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697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&amp; Authorization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291693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ES384 JWTs, Cedar policies, and scoped clients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24612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51560" y="32461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as Transport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346557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xDS control plane and listener/cluster model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79476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3794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Architecture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51560" y="401421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3-stack Docker Compose with 8 isolated networks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34340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43434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Summary &amp; Roadmap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built, what comes next, and the mTLS gap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BGP?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internet solved multi-party routing decades ago — we adapt the same model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560320" cy="1417320"/>
          </a:xfrm>
          <a:prstGeom prst="rect">
            <a:avLst>
              <a:gd name="adj" fmla="val 5161"/>
            </a:avLst>
          </a:prstGeom>
          <a:solidFill>
            <a:srgbClr val="152048"/>
          </a:solidFill>
          <a:ln w="19050">
            <a:solidFill>
              <a:srgbClr val="0183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Decentralized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central authority decides who can route. Each node owns its own route table and peers autonomously.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325880"/>
            <a:ext cx="2560320" cy="1417320"/>
          </a:xfrm>
          <a:prstGeom prst="rect">
            <a:avLst>
              <a:gd name="adj" fmla="val 5161"/>
            </a:avLst>
          </a:prstGeom>
          <a:solidFill>
            <a:srgbClr val="152048"/>
          </a:solidFill>
          <a:ln w="19050">
            <a:solidFill>
              <a:srgbClr val="F8A4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138988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A4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Graduated Trust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2044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ranges from two strangers peering in the wild to tightly-coupled nodes inside one org — no mandate required.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325880"/>
            <a:ext cx="2560320" cy="1417320"/>
          </a:xfrm>
          <a:prstGeom prst="rect">
            <a:avLst>
              <a:gd name="adj" fmla="val 5161"/>
            </a:avLst>
          </a:prstGeom>
          <a:solidFill>
            <a:srgbClr val="152048"/>
          </a:solidFill>
          <a:ln w="19050">
            <a:solidFill>
              <a:srgbClr val="6DCF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38988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 Dynamic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 appear, move, and disappear. Routes propagate in real time. No config files, no restarts.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200400"/>
            <a:ext cx="8229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Bridge trust domains without forcing organizational alignment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Accessible to any team — minimal technology changes to adopt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 between two companies or within a single cluster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VPN, no service mesh sidecar, no infrastructure buy-in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461772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52048"/>
          </a:solidFill>
          <a:ln w="19050">
            <a:solidFill>
              <a:srgbClr val="0183CA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BGP powers the internet because it assumes nothing about who is on the other side. We apply the same principle to service discovery.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Related: Ziti + Zenoh + Zitadel Stack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parallel project exploring overlay-network-first architecture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07FD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Overlay Stack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OpenZiti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57400" y="169164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Transport / mesh network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Zenoh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57400" y="21945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plane (pub/sub + query)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Zitadel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57400" y="269748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 provider (OIDC/SAML)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1280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Catalyst Router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169164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Unopinionated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169164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Transport-agnostic (any proxy)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19456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21945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Routing layer 4–7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69748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 + Cedar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269748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 + Cedar + mTLS (coming soon)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0" y="1280160"/>
            <a:ext cx="914" cy="192024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48640" y="3337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Intermix — but Distinctly Different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8046720" cy="914400"/>
        </p:xfrm>
        <a:graphic>
          <a:graphicData uri="http://schemas.openxmlformats.org/drawingml/2006/table">
            <a:tbl>
              <a:tblPr/>
              <a:tblGrid>
                <a:gridCol w="2682240"/>
                <a:gridCol w="2682240"/>
                <a:gridCol w="2682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Dimension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Overlay Stack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Catalyst Router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Network layer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Chooses a network (Ziti overlay)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Unopinionated — any proxy layer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Org-managed identity provider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Works between 2 strangers in the wild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Adoption cost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SDK integration + overlay infra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Zero app changes — proxy sits alongside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Bureaucracy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Requires organizational mandate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mandate — peer whenever 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548640" y="4572000"/>
            <a:ext cx="8046720" cy="41148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9050">
            <a:solidFill>
              <a:srgbClr val="0183CA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Catalyst Routers bridge trust domains at the lowest friction point: two parties agree to peer, and traffic flows. No overlay, no SDK, no org-wide rollout.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node is a self-contained pod with control plane + data plane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13258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Plane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0" y="1554480"/>
            <a:ext cx="5029200" cy="1828800"/>
          </a:xfrm>
          <a:prstGeom prst="rect">
            <a:avLst>
              <a:gd name="adj" fmla="val 5000"/>
            </a:avLst>
          </a:prstGeom>
          <a:solidFill>
            <a:srgbClr val="152048"/>
          </a:solidFill>
          <a:ln w="12700">
            <a:solidFill>
              <a:srgbClr val="2D4BA9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743200" y="1828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54480" y="256032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 Service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06240" y="256032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(xDS)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H="1">
            <a:off x="2331720" y="2331720"/>
            <a:ext cx="868680" cy="228600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331720" y="233172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RPC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0" y="2331720"/>
            <a:ext cx="868680" cy="228600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114800" y="233172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RPC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371600" y="35204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Plane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560320" y="3794760"/>
            <a:ext cx="265176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Proxy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flipH="1">
            <a:off x="3886200" y="3017520"/>
            <a:ext cx="1097280" cy="777240"/>
          </a:xfrm>
          <a:prstGeom prst="line">
            <a:avLst/>
          </a:prstGeom>
          <a:noFill/>
          <a:ln w="15240">
            <a:solidFill>
              <a:srgbClr val="707FDC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886200" y="320040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xDS gRPC (ADS)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" y="379476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71600" y="4041648"/>
            <a:ext cx="1188720" cy="914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71600" y="384048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 / gRPC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0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6DCFF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 Nodes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12080" y="4041648"/>
            <a:ext cx="1188720" cy="914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5212080" y="384048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Mesh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0" y="182880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6DCFF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0" y="2075688"/>
            <a:ext cx="1828800" cy="914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4572000" y="18745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WebSocket RPC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48640" y="4526280"/>
            <a:ext cx="8046720" cy="41148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9050">
            <a:solidFill>
              <a:srgbClr val="0183CA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 decides routing policy. Envoy executes traffic forwarding. Auth gates every operation.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BGP-Inspired Routing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Adapted from the internet's routing protocol for service-level discovery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BGP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 IP prefixes (10.0.0.0/24)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hop = IP address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AS_PATH prevents routing loops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Forwarding at IP layer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iBGP within an AS, eBGP between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Catalyst Routing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645920"/>
            <a:ext cx="3840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 service names (books-api)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hop = Node FQDN + Envoy port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nodePath prevents routing loops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Forwarding via Envoy proxy</a:t>
            </a:r>
            <a:endParaRPr lang="en-US" sz="13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iBGP implemented, eBGP reserved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8046720" cy="914400"/>
        </p:xfrm>
        <a:graphic>
          <a:graphicData uri="http://schemas.openxmlformats.org/drawingml/2006/table">
            <a:tbl>
              <a:tblPr/>
              <a:tblGrid>
                <a:gridCol w="2682240"/>
                <a:gridCol w="2682240"/>
                <a:gridCol w="2682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BGP Concept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Catalyst Equivalent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Example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Autonomous System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Domain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somebiz.local.io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CIDR Prefix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books-api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AS_PATH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nodePath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["node-b", "node-a"]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Next Hop IP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envoyAddress + envoyPort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envoy-proxy-a:10001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UPDATE message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InternalProtocolUpdate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{ action: "add", route, nodePath }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Peering Protocol 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Three-stage handshake with full table sync on connect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737360" y="137160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 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852160" y="137160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 B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1737360"/>
            <a:ext cx="914" cy="237744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400800" y="1737360"/>
            <a:ext cx="914" cy="237744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286000" y="2011680"/>
            <a:ext cx="4114800" cy="914"/>
          </a:xfrm>
          <a:prstGeom prst="line">
            <a:avLst/>
          </a:prstGeom>
          <a:noFill/>
          <a:ln w="15240">
            <a:solidFill>
              <a:srgbClr val="0183CA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286000" y="18105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addPeer(B) -&gt; open(nodeA_info)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 flipH="1">
            <a:off x="2286000" y="2468880"/>
            <a:ext cx="411480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2286000" y="22677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InternalProtocolOpen -&gt; sync full route table to A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86000" y="2926080"/>
            <a:ext cx="4114800" cy="914"/>
          </a:xfrm>
          <a:prstGeom prst="line">
            <a:avLst/>
          </a:prstGeom>
          <a:noFill/>
          <a:ln w="15240">
            <a:solidFill>
              <a:srgbClr val="0183CA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286000" y="27249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InternalProtocolConnected -&gt; sync full route table to B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286000" y="3383280"/>
            <a:ext cx="4114800" cy="914"/>
          </a:xfrm>
          <a:prstGeom prst="line">
            <a:avLst/>
          </a:prstGeom>
          <a:noFill/>
          <a:ln w="15240">
            <a:solidFill>
              <a:srgbClr val="6DCFF6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2286000" y="31821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InternalProtocolUpdate (ongoing)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 flipH="1">
            <a:off x="2286000" y="3657600"/>
            <a:ext cx="4114800" cy="914"/>
          </a:xfrm>
          <a:prstGeom prst="line">
            <a:avLst/>
          </a:prstGeom>
          <a:noFill/>
          <a:ln w="15240">
            <a:solidFill>
              <a:srgbClr val="6DCFF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2286000" y="345643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Route adds/removes propagate bidirectionally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" y="4251960"/>
            <a:ext cx="8046720" cy="502920"/>
          </a:xfrm>
          <a:prstGeom prst="roundRect">
            <a:avLst>
              <a:gd name="adj" fmla="val 10909"/>
            </a:avLst>
          </a:prstGeom>
          <a:solidFill>
            <a:srgbClr val="152048"/>
          </a:solidFill>
          <a:ln w="19050">
            <a:solidFill>
              <a:srgbClr val="F8A451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Loop Prevention: every route carries nodePath[] — an ordered list of node FQDNs it has traversed. If a node sees itself in the path, the route is dropped.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 Table &amp; Action/Reducer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Event-sourced state management inspired by Redux + BGP RIB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(Event)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737360" y="1709928"/>
            <a:ext cx="365760" cy="914"/>
          </a:xfrm>
          <a:prstGeom prst="line">
            <a:avLst/>
          </a:prstGeom>
          <a:noFill/>
          <a:ln w="15240">
            <a:solidFill>
              <a:srgbClr val="0183CA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103120" y="141732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handleAction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(Sync Reducer)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749040" y="1709928"/>
            <a:ext cx="36576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114800" y="141732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152048"/>
          </a:solidFill>
          <a:ln w="15240">
            <a:solidFill>
              <a:srgbClr val="6DCFF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03520" y="1709928"/>
            <a:ext cx="365760" cy="914"/>
          </a:xfrm>
          <a:prstGeom prst="line">
            <a:avLst/>
          </a:prstGeom>
          <a:noFill/>
          <a:ln w="15240">
            <a:solidFill>
              <a:srgbClr val="6DCFF6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669280" y="141732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handleNotify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(Async Effects)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0" y="1709928"/>
            <a:ext cx="365760" cy="914"/>
          </a:xfrm>
          <a:prstGeom prst="line">
            <a:avLst/>
          </a:prstGeom>
          <a:noFill/>
          <a:ln w="15240">
            <a:solidFill>
              <a:srgbClr val="707FDC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680960" y="141732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RPC 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Peers/Envoy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Contains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Purpose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local.routes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DataChannelDefinition[]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 / Admin API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Services this node originates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internal.peers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PeerRecord[]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addPeer / protocol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Connected peer state + peerToken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internal.routes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InternalRoute[]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Peer UPDATE msgs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Services learned from iBGP peers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(reserved)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Future eBGP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Cross-domain federation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54864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Types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794760"/>
            <a:ext cx="8046720" cy="1097280"/>
          </a:xfrm>
          <a:prstGeom prst="roundRect">
            <a:avLst>
              <a:gd name="adj" fmla="val 5000"/>
            </a:avLst>
          </a:prstGeom>
          <a:solidFill>
            <a:srgbClr val="080E28"/>
          </a:solidFill>
          <a:ln/>
        </p:spPr>
        <p:txBody>
          <a:bodyPr wrap="square" lIns="76200" tIns="127000" rIns="127000" bIns="7620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Peer Management         Route Management        Protocol (iBGP)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─────────────────       ──────────────────      ─────────────────────────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LocalPeerCreate         LocalRouteCreate        InternalProtocolOpen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LocalPeerUpdate         LocalRouteDelete        InternalProtocolClose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LocalPeerDelete                                 InternalProtocolConnected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InternalProtocolUpdate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Authentication: ES384 JWTs + Cedar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RPC call is gated by token validation and Cedar policy evaluation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4572000" cy="2286000"/>
          </a:xfrm>
          <a:prstGeom prst="roundRect">
            <a:avLst>
              <a:gd name="adj" fmla="val 2400"/>
            </a:avLst>
          </a:prstGeom>
          <a:solidFill>
            <a:srgbClr val="080E28"/>
          </a:solidFill>
          <a:ln/>
        </p:spPr>
        <p:txBody>
          <a:bodyPr wrap="square" lIns="76200" tIns="127000" rIns="127000" bIns="7620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"alg": "ES384",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"sub": "node-a.somebiz.local.io",      // Subject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"iss": "catalyst",                      // Issuer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"principal": "CATALYST::NODE",           // Cedar principal type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"entity":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"trustedDomains": ["somebiz.local.io"],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"trustedNodes": []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"cnf": { "x5t#S256": "..." },           // Future: cert binding (RFC 8705)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"jti": "unique-id", "exp": ..., "iat":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94960" y="1234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Principal Types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554480"/>
          <a:ext cx="33832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916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Principal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A45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Permissions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A45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ADMIN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actions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IBGP_CONNECT, UPDATE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NODE_CUSTODIAN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PEER_*, IBGP_*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DATA_CUSTODIAN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ROUTE_CREATE, DELETE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LOGIN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657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Scoped Client Model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402336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NetworkClient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(Peer Mgmt)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108960" y="402336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DataChannel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(Routes)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402336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IBGPClient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(Internal Protocol)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4663440"/>
            <a:ext cx="8046720" cy="320040"/>
          </a:xfrm>
          <a:prstGeom prst="roundRect">
            <a:avLst>
              <a:gd name="adj" fmla="val 17143"/>
            </a:avLst>
          </a:prstGeom>
          <a:solidFill>
            <a:srgbClr val="152048"/>
          </a:solidFill>
          <a:ln w="19050">
            <a:solidFill>
              <a:srgbClr val="F8A451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Cedar policy engine evaluates: Can this principal perform this action on this resource?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 Token Exchange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node has its OWN auth service — cross-minting enables peering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 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0" y="137160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Auth-B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(Node B's Auth)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675120" y="137160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 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1874520"/>
            <a:ext cx="914" cy="196596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4389120" y="1874520"/>
            <a:ext cx="914" cy="196596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315200" y="1874520"/>
            <a:ext cx="914" cy="196596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274320" y="212140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371600" y="2194560"/>
            <a:ext cx="3017520" cy="914"/>
          </a:xfrm>
          <a:prstGeom prst="line">
            <a:avLst/>
          </a:prstGeom>
          <a:noFill/>
          <a:ln w="15240">
            <a:solidFill>
              <a:srgbClr val="F8A451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371600" y="199339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Mint peer token for Node 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74320" y="253288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flipH="1">
            <a:off x="1371600" y="2606040"/>
            <a:ext cx="3017520" cy="914"/>
          </a:xfrm>
          <a:prstGeom prst="line">
            <a:avLst/>
          </a:prstGeom>
          <a:noFill/>
          <a:ln w="15240">
            <a:solidFill>
              <a:srgbClr val="F8A45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371600" y="24048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 signed by Auth-B returned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" y="294436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371600" y="3017520"/>
            <a:ext cx="5943600" cy="914"/>
          </a:xfrm>
          <a:prstGeom prst="line">
            <a:avLst/>
          </a:prstGeom>
          <a:noFill/>
          <a:ln w="15240">
            <a:solidFill>
              <a:srgbClr val="0183CA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71600" y="281635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+ present peerToken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" y="335584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 flipH="1">
            <a:off x="4389120" y="3429000"/>
            <a:ext cx="292608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4389120" y="322783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token with local Auth-B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74320" y="379476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794760"/>
            <a:ext cx="8046720" cy="320040"/>
          </a:xfrm>
          <a:prstGeom prst="roundRect">
            <a:avLst>
              <a:gd name="adj" fmla="val 17143"/>
            </a:avLst>
          </a:prstGeom>
          <a:solidFill>
            <a:srgbClr val="152048"/>
          </a:solidFill>
          <a:ln w="19050">
            <a:solidFill>
              <a:srgbClr val="6DCFF6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iBGP session established — bidirectional route sync begins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251960"/>
            <a:ext cx="8046720" cy="41148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9050">
            <a:solidFill>
              <a:srgbClr val="FF5C5C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Key: The peerToken is the ONLY credential used. If it is missing or invalid, connection fails with CRITICAL error.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 Gap: Where mTLS Will Be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JWT-only auth vs future certificate-bound tokens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A4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State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657600" cy="2011680"/>
          </a:xfrm>
          <a:prstGeom prst="rect">
            <a:avLst>
              <a:gd name="adj" fmla="val 3636"/>
            </a:avLst>
          </a:prstGeom>
          <a:solidFill>
            <a:srgbClr val="152048"/>
          </a:solidFill>
          <a:ln w="19050">
            <a:solidFill>
              <a:srgbClr val="F8A45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JWT over unencrypted WebSocket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alone is sufficient to authenticate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channel binding to transport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theft = full impersonation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Sufficient for dev/testing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Future: mTLS + DPoP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937760" y="1645920"/>
            <a:ext cx="3840480" cy="2011680"/>
          </a:xfrm>
          <a:prstGeom prst="rect">
            <a:avLst>
              <a:gd name="adj" fmla="val 3636"/>
            </a:avLst>
          </a:prstGeom>
          <a:solidFill>
            <a:srgbClr val="152048"/>
          </a:solidFill>
          <a:ln w="19050">
            <a:solidFill>
              <a:srgbClr val="6DCF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173736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Mutual TLS on all peer connections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cnf claim binds JWT to cert (RFC 8705)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SHA-256 thumbprint matching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Sender-constrained: token useless without key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security 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0" y="23774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&gt;&gt;&gt;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3840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Already in Place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36576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structure has cnf claim field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store tracks certificateFingerprint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ADR 0007 specifies the architecture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37760" y="3840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Missing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4114800"/>
            <a:ext cx="384048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TLS termination on WebSocket endpoints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certificate validation in Hono</a:t>
            </a:r>
            <a:endParaRPr lang="en-US" sz="11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5C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Thumbprint matching during token verify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Envoy: xDS Control Plane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 (Aggregated Discovery Service) over gRPC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03120" y="1892808"/>
            <a:ext cx="640080" cy="914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103120" y="169164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Capnweb RPC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743200" y="16459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(xDS Server)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892808"/>
            <a:ext cx="640080" cy="914"/>
          </a:xfrm>
          <a:prstGeom prst="line">
            <a:avLst/>
          </a:prstGeom>
          <a:noFill/>
          <a:ln w="15240">
            <a:solidFill>
              <a:srgbClr val="7B8FB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572000" y="169164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 gRPC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212080" y="16459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Proxy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(Data Plane)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37744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1520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0" y="2148840"/>
            <a:ext cx="914" cy="228600"/>
          </a:xfrm>
          <a:prstGeom prst="line">
            <a:avLst/>
          </a:prstGeom>
          <a:noFill/>
          <a:ln w="12700">
            <a:solidFill>
              <a:srgbClr val="707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17520"/>
            <a:ext cx="45720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gRPC stream carries all resource types (ADS)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 of the World (SotW) — full config push each snapshot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CDS sent before LDS (prevents traffic blackholing)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Version-based ACK/NACK for consistency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Resource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Type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Naming Pattern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Example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Ingress Listener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LDS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ingress_{channel}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ingress_books-api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Egress Listener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LDS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egress_{channel}_via_{peer}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egress_books-api_via_node-b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Local Cluster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local_{channel}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local_books-api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Remote Cluster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remote_{channel}_via_{peer}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remote_books-api_via_node-b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Listener &amp; Cluster Model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Ingress serves remote peers — Egress reaches remote services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A5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INGRESS (serving remote peers)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6DCFF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Peer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0" y="1920240"/>
            <a:ext cx="36576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2194560" y="169164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ingress_books-api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:10001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23360" y="1920240"/>
            <a:ext cx="36576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389120" y="169164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local_books-api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1920240"/>
            <a:ext cx="36576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309360" y="169164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books:8080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A4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EGRESS (reaching remote services)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88036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App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0" y="3108960"/>
            <a:ext cx="365760" cy="914"/>
          </a:xfrm>
          <a:prstGeom prst="line">
            <a:avLst/>
          </a:prstGeom>
          <a:noFill/>
          <a:ln w="15240">
            <a:solidFill>
              <a:srgbClr val="F8A45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2194560" y="288036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egress_books-api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_via_node-a :10011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06240" y="3108960"/>
            <a:ext cx="365760" cy="914"/>
          </a:xfrm>
          <a:prstGeom prst="line">
            <a:avLst/>
          </a:prstGeom>
          <a:noFill/>
          <a:ln w="15240">
            <a:solidFill>
              <a:srgbClr val="F8A451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4572000" y="288036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remote_books-api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_via_node-a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3108960"/>
            <a:ext cx="365760" cy="914"/>
          </a:xfrm>
          <a:prstGeom prst="line">
            <a:avLst/>
          </a:prstGeom>
          <a:noFill/>
          <a:ln w="15240">
            <a:solidFill>
              <a:srgbClr val="F8A451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766560" y="288036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152048"/>
          </a:solidFill>
          <a:ln w="15240">
            <a:solidFill>
              <a:srgbClr val="6DCFF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node-a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:10001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566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Protocol-Aware Configuration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Protocol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Codec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WebSocket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Timeout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07F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HTTP/1.1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Default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http:graphql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HTTP/1.1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 (subscriptions)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Disabled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http:grpc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HTTP/2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Disabled (streaming)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548640" y="4617720"/>
            <a:ext cx="8046720" cy="320040"/>
          </a:xfrm>
          <a:prstGeom prst="roundRect">
            <a:avLst>
              <a:gd name="adj" fmla="val 17143"/>
            </a:avLst>
          </a:prstGeom>
          <a:solidFill>
            <a:srgbClr val="152048"/>
          </a:solidFill>
          <a:ln w="19050">
            <a:solidFill>
              <a:srgbClr val="707FDC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 allocation: sequential from configurable pool. Each service gets a unique listener port.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3-Stack Demo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&lt;-&gt; B &lt;-&gt; C topology — B is transit, no direct A-C peering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011680" cy="2743200"/>
          </a:xfrm>
          <a:prstGeom prst="rect">
            <a:avLst>
              <a:gd name="adj" fmla="val 4545"/>
            </a:avLst>
          </a:prstGeom>
          <a:solidFill>
            <a:srgbClr val="152048"/>
          </a:solidFill>
          <a:ln w="19050">
            <a:solidFill>
              <a:srgbClr val="0183CA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16459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Auth-A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Orchestrator-A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(xDS)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0175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Proxy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34747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books-a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66160" y="1280160"/>
            <a:ext cx="2011680" cy="2743200"/>
          </a:xfrm>
          <a:prstGeom prst="rect">
            <a:avLst>
              <a:gd name="adj" fmla="val 4545"/>
            </a:avLst>
          </a:prstGeom>
          <a:solidFill>
            <a:srgbClr val="152048"/>
          </a:solidFill>
          <a:ln w="19050">
            <a:solidFill>
              <a:srgbClr val="39A5D8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3566160" y="1280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A5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03320" y="16459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Auth-B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03320" y="21031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Orchestrator-B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703320" y="25603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(xDS)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03320" y="30175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Proxy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34747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books-b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280160"/>
            <a:ext cx="2011680" cy="2743200"/>
          </a:xfrm>
          <a:prstGeom prst="rect">
            <a:avLst>
              <a:gd name="adj" fmla="val 4545"/>
            </a:avLst>
          </a:prstGeom>
          <a:solidFill>
            <a:srgbClr val="152048"/>
          </a:solidFill>
          <a:ln w="19050">
            <a:solidFill>
              <a:srgbClr val="F8A451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400800" y="1280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A4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16459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Auth-C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37960" y="21031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0183C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Orchestrator-C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37960" y="25603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(xDS)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37960" y="30175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 Proxy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37960" y="3474720"/>
            <a:ext cx="1737360" cy="347472"/>
          </a:xfrm>
          <a:prstGeom prst="roundRect">
            <a:avLst>
              <a:gd name="adj" fmla="val 21053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curl-client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0" y="2276856"/>
            <a:ext cx="3657600" cy="914"/>
          </a:xfrm>
          <a:prstGeom prst="line">
            <a:avLst/>
          </a:prstGeom>
          <a:noFill/>
          <a:ln w="12700">
            <a:solidFill>
              <a:srgbClr val="0183CA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2743200" y="209397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183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orchestrator-mesh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2743200" y="3191256"/>
            <a:ext cx="3657600" cy="914"/>
          </a:xfrm>
          <a:prstGeom prst="line">
            <a:avLst/>
          </a:prstGeom>
          <a:noFill/>
          <a:ln w="12700">
            <a:solidFill>
              <a:srgbClr val="707FDC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2743200" y="321868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F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envoy-mesh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48640" y="4160520"/>
            <a:ext cx="8046720" cy="274320"/>
          </a:xfrm>
          <a:prstGeom prst="roundRect">
            <a:avLst>
              <a:gd name="adj" fmla="val 20000"/>
            </a:avLst>
          </a:prstGeom>
          <a:solidFill>
            <a:srgbClr val="152048"/>
          </a:solidFill>
          <a:ln w="19050">
            <a:solidFill>
              <a:srgbClr val="6DCFF6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&lt;-&gt; B  and  B &lt;-&gt; C  (B is transit node)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Docker Networks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Strict isolation — control plane and data plane never cross stacks except via mesh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Network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Type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Connects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Subnet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stack-a-control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auth-a, orch-a, envoy-svc-a, envoy-proxy-a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172.28.1.0/28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stack-a-data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envoy-proxy-a, books-a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172.28.1.16/28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stack-b-control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auth-b, orch-b, envoy-svc-b, envoy-proxy-b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172.28.2.0/28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stack-b-data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envoy-proxy-b, books-b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172.28.2.16/28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stack-c-control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auth-c, orch-c, envoy-svc-c, envoy-proxy-c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172.28.3.0/28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stack-c-data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envoy-proxy-c, curl-client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172.28.3.16/28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orchestrator-mesh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Cross-stack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orch-a, orch-b, orch-c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172.28.10.0/28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envoy-mesh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Cross-stack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envoy-proxy-a, envoy-proxy-b, envoy-proxy-c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172.28.11.0/28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57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Design Principles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3931920"/>
            <a:ext cx="8229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 services are stack-local only (no cross-stack auth access)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Downstream services (books, curl) cannot reach other stacks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orchestrators and envoy proxies join cross-stack meshes</a:t>
            </a:r>
            <a:endParaRPr lang="en-US" sz="12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plane mesh (BGP) and data plane mesh (traffic) are separate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Walkthrough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cold start to cross-node GraphQL query in 8 steps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D4BA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1234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Auth Services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5087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stack mints its own system admin token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D4BA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103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 System Tokens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3774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Parse tokens from container logs for CLI use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D4BA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971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Full Stacks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324612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containers across 8 networks come 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8404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183C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840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Routes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41148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books-a on Stack A, books-b on Stack 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23444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183C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1234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Mint Peer Tokens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15087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Cross-auth token exchange for A&lt;-&gt;B, B&lt;-&gt;C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2103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183C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12080" y="2103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Peer Connections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23774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iBGP sessions establish, full table sync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29718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DCF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12080" y="2971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Route Propagation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12080" y="324612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C learns both books-a and books-b via transit B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54880" y="38404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DCF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12080" y="3840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Traffic Test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12080" y="41148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curl from Stack C queries books-a on Stack A (2-hop)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Multi-Hop: C -&gt; B -&gt; 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B8F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request from Stack C reaches a service on Stack A through transit node 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82880" y="13716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5240">
            <a:solidFill>
              <a:srgbClr val="F8A45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curl-client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(Stack C)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0" y="1645920"/>
            <a:ext cx="274320" cy="914"/>
          </a:xfrm>
          <a:prstGeom prst="line">
            <a:avLst/>
          </a:prstGeom>
          <a:noFill/>
          <a:ln w="15240">
            <a:solidFill>
              <a:srgbClr val="F8A45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1920240" y="13716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envoy-proxy-c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(egress)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74320" cy="914"/>
          </a:xfrm>
          <a:prstGeom prst="line">
            <a:avLst/>
          </a:prstGeom>
          <a:noFill/>
          <a:ln w="15240">
            <a:solidFill>
              <a:srgbClr val="707FDC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657600" y="13716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envoy-proxy-b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(transit)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20640" y="1645920"/>
            <a:ext cx="274320" cy="914"/>
          </a:xfrm>
          <a:prstGeom prst="line">
            <a:avLst/>
          </a:prstGeom>
          <a:noFill/>
          <a:ln w="15240">
            <a:solidFill>
              <a:srgbClr val="707FDC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394960" y="13716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5240">
            <a:solidFill>
              <a:srgbClr val="707FD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envoy-proxy-a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(ingress)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0" y="1645920"/>
            <a:ext cx="274320" cy="914"/>
          </a:xfrm>
          <a:prstGeom prst="line">
            <a:avLst/>
          </a:prstGeom>
          <a:noFill/>
          <a:ln w="15240">
            <a:solidFill>
              <a:srgbClr val="39A5D8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132320" y="137160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5240">
            <a:solidFill>
              <a:srgbClr val="39A5D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books-a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:8080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193852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F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envoy-mesh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20240" y="2066544"/>
            <a:ext cx="4937760" cy="914"/>
          </a:xfrm>
          <a:prstGeom prst="line">
            <a:avLst/>
          </a:prstGeom>
          <a:noFill/>
          <a:ln w="12700">
            <a:solidFill>
              <a:srgbClr val="707FD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548640" y="2331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 Rewriting at Each Hop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8046720" cy="914400"/>
        </p:xfrm>
        <a:graphic>
          <a:graphicData uri="http://schemas.openxmlformats.org/drawingml/2006/table">
            <a:tbl>
              <a:tblPr/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nodePath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envoyPort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83C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 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["node-b", "node-a"]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10012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envoy-proxy-b:10012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Egress (2 hops)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 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["node-a"]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10001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envoy-proxy-a:10001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Transit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110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Stack 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[]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10001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books:8080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0E8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Ingress (origin)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6200" marR="762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2048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548640" y="3794760"/>
            <a:ext cx="8046720" cy="411480"/>
          </a:xfrm>
          <a:prstGeom prst="roundRect">
            <a:avLst>
              <a:gd name="adj" fmla="val 13333"/>
            </a:avLst>
          </a:prstGeom>
          <a:solidFill>
            <a:srgbClr val="152048"/>
          </a:solidFill>
          <a:ln w="19050">
            <a:solidFill>
              <a:srgbClr val="707FDC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node re-advertises routes with its own egress port. The nodePath grows at each hop, enabling loop detection.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Summary &amp; What's Next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0" y="2743200"/>
            <a:ext cx="3657600" cy="3657600"/>
          </a:xfrm>
          <a:prstGeom prst="ellipse">
            <a:avLst/>
          </a:prstGeom>
          <a:noFill/>
          <a:ln w="7620">
            <a:solidFill>
              <a:srgbClr val="2D4BA9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914" cy="3017520"/>
          </a:xfrm>
          <a:prstGeom prst="line">
            <a:avLst/>
          </a:prstGeom>
          <a:noFill/>
          <a:ln w="12700">
            <a:solidFill>
              <a:srgbClr val="2D4BA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CF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Built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BGP-inspired service discovery (iBGP)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Action/reducer event-sourced state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ES384 JWT + Cedar authorization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56032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Envoy xDS data plane (LDS + CDS)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Multi-hop cross-node routing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29184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3-stack demo with full isolation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051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83C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Next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46320" y="146304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mTLS channel binding (RFC 8705)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82880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eBGP for cross-domain federation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19456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RDS/EDS for advanced traffic mgmt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256032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Certificate rotation automation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292608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GraphQL federation over the mesh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329184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Keepalive / hold timer support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3931920"/>
            <a:ext cx="8046720" cy="365760"/>
          </a:xfrm>
          <a:prstGeom prst="roundRect">
            <a:avLst>
              <a:gd name="adj" fmla="val 15000"/>
            </a:avLst>
          </a:prstGeom>
          <a:solidFill>
            <a:srgbClr val="152048"/>
          </a:solidFill>
          <a:ln w="19050">
            <a:solidFill>
              <a:srgbClr val="0183CA"/>
            </a:solidFill>
          </a:ln>
        </p:spPr>
        <p:txBody>
          <a:bodyPr wrap="square" lIns="50800" tIns="127000" rIns="1270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E8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Catalyst Router — Distributed service mesh, one node at a time.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8632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FB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Catalyst Router</dc:title>
  <dc:subject>Architecture &amp; Demo Walkthrough</dc:subject>
  <dc:creator>Orbis</dc:creator>
  <cp:lastModifiedBy>Orbis</cp:lastModifiedBy>
  <cp:revision>1</cp:revision>
  <dcterms:created xsi:type="dcterms:W3CDTF">2026-02-12T20:14:41Z</dcterms:created>
  <dcterms:modified xsi:type="dcterms:W3CDTF">2026-02-12T20:14:41Z</dcterms:modified>
</cp:coreProperties>
</file>