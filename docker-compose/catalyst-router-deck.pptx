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080E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108960"/>
            <a:ext cx="7772400" cy="5486"/>
          </a:xfrm>
          <a:prstGeom prst="rect">
            <a:avLst/>
          </a:prstGeom>
          <a:solidFill>
            <a:srgbClr val="2D4BA9"/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B8FB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0110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2D4BA9"/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B8FB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B8FB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0" y="-1097280"/>
            <a:ext cx="5029200" cy="5029200"/>
          </a:xfrm>
          <a:prstGeom prst="ellipse">
            <a:avLst/>
          </a:prstGeom>
          <a:noFill/>
          <a:ln w="10160">
            <a:solidFill>
              <a:srgbClr val="2D4BA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-457200"/>
            <a:ext cx="3474720" cy="3474720"/>
          </a:xfrm>
          <a:prstGeom prst="ellipse">
            <a:avLst/>
          </a:prstGeom>
          <a:noFill/>
          <a:ln w="6350">
            <a:solidFill>
              <a:srgbClr val="2D4BA9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685800" y="1280160"/>
            <a:ext cx="5486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Catalyst Router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685800" y="329184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BGP-Inspired Service Discovery</a:t>
            </a:r>
            <a:endParaRPr lang="en-US" sz="1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with Envoy Data Plane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85800" y="4114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83C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Architecture &amp; Demo Walkthrough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B8FB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5204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183C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51560" y="105156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BGP?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271016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Decentralized, graduated trust, fully dynamic — minimal adoption cost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5204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183C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51560" y="160020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Related: Ziti + Zenoh Stack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1819656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Overlay-first vs proxy-first — how they differ and intermix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214884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5204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183C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51560" y="21488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BGP-Inspired Routing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2368296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the orchestrator discovers and propagates services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26974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5204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183C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51560" y="269748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Authentication &amp; Authorization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2916936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ES384 JWTs, Cedar policies, and scoped clients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48640" y="324612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5204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183C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051560" y="32461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Envoy as Transport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3465576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xDS control plane and listener/cluster model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48640" y="379476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5204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183C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051560" y="379476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Architecture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051560" y="4014216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3-stack Docker Compose with 8 isolated networks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48640" y="434340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5204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183C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51560" y="434340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Summary &amp; Roadmap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051560" y="4562856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built, what comes next, and the mTLS gap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B8FB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BGP?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internet solved multi-party routing decades ago — we adapt the same model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2560320" cy="1417320"/>
          </a:xfrm>
          <a:prstGeom prst="rect">
            <a:avLst>
              <a:gd name="adj" fmla="val 5161"/>
            </a:avLst>
          </a:prstGeom>
          <a:solidFill>
            <a:srgbClr val="152048"/>
          </a:solidFill>
          <a:ln w="19050">
            <a:solidFill>
              <a:srgbClr val="0183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389888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83C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Decentralized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69164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central authority decides who can route. Each node owns its own route table and peers autonomously.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83280" y="1325880"/>
            <a:ext cx="2560320" cy="1417320"/>
          </a:xfrm>
          <a:prstGeom prst="rect">
            <a:avLst>
              <a:gd name="adj" fmla="val 5161"/>
            </a:avLst>
          </a:prstGeom>
          <a:solidFill>
            <a:srgbClr val="152048"/>
          </a:solidFill>
          <a:ln w="19050">
            <a:solidFill>
              <a:srgbClr val="F8A45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20440" y="1389888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A4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Graduated Trust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520440" y="169164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ranges from two strangers peering in the wild to tightly-coupled nodes inside one org — no mandate required.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325880"/>
            <a:ext cx="2560320" cy="1417320"/>
          </a:xfrm>
          <a:prstGeom prst="rect">
            <a:avLst>
              <a:gd name="adj" fmla="val 5161"/>
            </a:avLst>
          </a:prstGeom>
          <a:solidFill>
            <a:srgbClr val="152048"/>
          </a:solidFill>
          <a:ln w="19050">
            <a:solidFill>
              <a:srgbClr val="6DCF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55080" y="1389888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CF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Fully Dynamic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355080" y="169164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Services appear, move, and disappear. Routes propagate in real time. No config files, no restarts.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29260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Goal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3200400"/>
            <a:ext cx="8229600" cy="1243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Bridge trust domains without forcing organizational alignment</a:t>
            </a:r>
            <a:endParaRPr lang="en-US" sz="11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Accessible to any team — minimal technology changes to adopt</a:t>
            </a:r>
            <a:endParaRPr lang="en-US" sz="11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Works between two companies or within a single cluster</a:t>
            </a:r>
            <a:endParaRPr lang="en-US" sz="11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VPN, no service mesh sidecar, no infrastructure buy-in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48640" y="4617720"/>
            <a:ext cx="8046720" cy="384048"/>
          </a:xfrm>
          <a:prstGeom prst="roundRect">
            <a:avLst>
              <a:gd name="adj" fmla="val 14286"/>
            </a:avLst>
          </a:prstGeom>
          <a:solidFill>
            <a:srgbClr val="152048"/>
          </a:solidFill>
          <a:ln w="19050">
            <a:solidFill>
              <a:srgbClr val="0183CA"/>
            </a:solidFill>
          </a:ln>
        </p:spPr>
        <p:txBody>
          <a:bodyPr wrap="square" lIns="50800" tIns="127000" rIns="127000" bIns="508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BGP powers the internet because it assumes nothing about who is on the other side. We apply the same principle to service discovery.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B8FB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Envoy?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CNCF graduated — 3rd project ever after Kubernetes and Prometheus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Protocol Coverage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1280160" cy="274320"/>
          </a:xfrm>
          <a:prstGeom prst="roundRect">
            <a:avLst>
              <a:gd name="adj" fmla="val 20000"/>
            </a:avLst>
          </a:prstGeom>
          <a:solidFill>
            <a:srgbClr val="707FD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TCP/UDP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847088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L4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965960" y="1554480"/>
            <a:ext cx="1280160" cy="274320"/>
          </a:xfrm>
          <a:prstGeom prst="roundRect">
            <a:avLst>
              <a:gd name="adj" fmla="val 20000"/>
            </a:avLst>
          </a:prstGeom>
          <a:solidFill>
            <a:srgbClr val="707FD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HTTP/1.1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965960" y="1847088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 proxy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383280" y="1554480"/>
            <a:ext cx="1280160" cy="274320"/>
          </a:xfrm>
          <a:prstGeom prst="roundRect">
            <a:avLst>
              <a:gd name="adj" fmla="val 20000"/>
            </a:avLst>
          </a:prstGeom>
          <a:solidFill>
            <a:srgbClr val="707FD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HTTP/2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383280" y="1847088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Multiplexed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800600" y="1554480"/>
            <a:ext cx="1280160" cy="274320"/>
          </a:xfrm>
          <a:prstGeom prst="roundRect">
            <a:avLst>
              <a:gd name="adj" fmla="val 20000"/>
            </a:avLst>
          </a:prstGeom>
          <a:solidFill>
            <a:srgbClr val="707FD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HTTP/3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00600" y="1847088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QUIC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217920" y="1554480"/>
            <a:ext cx="1280160" cy="274320"/>
          </a:xfrm>
          <a:prstGeom prst="roundRect">
            <a:avLst>
              <a:gd name="adj" fmla="val 20000"/>
            </a:avLst>
          </a:prstGeom>
          <a:solidFill>
            <a:srgbClr val="707FD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gRPC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217920" y="1847088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First-class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635240" y="1554480"/>
            <a:ext cx="1280160" cy="274320"/>
          </a:xfrm>
          <a:prstGeom prst="roundRect">
            <a:avLst>
              <a:gd name="adj" fmla="val 20000"/>
            </a:avLst>
          </a:prstGeom>
          <a:solidFill>
            <a:srgbClr val="707FD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GraphQL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635240" y="1847088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Via extension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48640" y="21945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Load Balancing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468880"/>
          <a:ext cx="393192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19659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Algorithm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707FD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Use Case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707FD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Round Robin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Default — weighted by endpoint health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Least Request (P2C)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Latency-sensitive — picks least-loaded of 2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Ring Hash / Maglev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Consistent hashing — sticky sessions, caching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Random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Stateless — outperforms RR without health checks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</a:tr>
            </a:tbl>
          </a:graphicData>
        </a:graphic>
      </p:graphicFrame>
      <p:sp>
        <p:nvSpPr>
          <p:cNvPr id="19" name="Text 16"/>
          <p:cNvSpPr/>
          <p:nvPr/>
        </p:nvSpPr>
        <p:spPr>
          <a:xfrm>
            <a:off x="4754880" y="21945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Circuit Breaking</a:t>
            </a:r>
            <a:endParaRPr lang="en-US" sz="14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2468880"/>
          <a:ext cx="40233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Threshold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A45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Default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A45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Max Connections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1,024 per cluster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Max Pending Requests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1,024 queued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Max Concurrent Requests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1,024 outstanding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Max Active Retries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 (budgets recommended)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</a:tr>
            </a:tbl>
          </a:graphicData>
        </a:graphic>
      </p:graphicFrame>
      <p:sp>
        <p:nvSpPr>
          <p:cNvPr id="21" name="Text 17"/>
          <p:cNvSpPr/>
          <p:nvPr/>
        </p:nvSpPr>
        <p:spPr>
          <a:xfrm>
            <a:off x="548640" y="37947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Industry Adoption</a:t>
            </a:r>
            <a:endParaRPr lang="en-US" sz="1400" dirty="0"/>
          </a:p>
        </p:txBody>
      </p:sp>
      <p:sp>
        <p:nvSpPr>
          <p:cNvPr id="22" name="Text 18"/>
          <p:cNvSpPr/>
          <p:nvPr/>
        </p:nvSpPr>
        <p:spPr>
          <a:xfrm>
            <a:off x="548640" y="40690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Lyft (creator)  •  Google  •  Apple  •  Microsoft  •  Netflix  •  Airbnb  •  Salesforce  •  Stripe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548640" y="43434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Istio  •  AWS App Mesh  •  All major cloud providers use Envoy in production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548640" y="4617720"/>
            <a:ext cx="8046720" cy="384048"/>
          </a:xfrm>
          <a:prstGeom prst="roundRect">
            <a:avLst>
              <a:gd name="adj" fmla="val 14286"/>
            </a:avLst>
          </a:prstGeom>
          <a:solidFill>
            <a:srgbClr val="152048"/>
          </a:solidFill>
          <a:ln w="19050">
            <a:solidFill>
              <a:srgbClr val="707FDC"/>
            </a:solidFill>
          </a:ln>
        </p:spPr>
        <p:txBody>
          <a:bodyPr wrap="square" lIns="50800" tIns="127000" rIns="127000" bIns="508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27K+ GitHub stars  •  1,700+ contributors  •  176 contributing orgs  •  155+ production end-users  •  Written in modern C++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B8FB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Related: Ziti + Zenoh + Zitadel Stack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parallel project exploring overlay-network-first architecture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07FD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Overlay Stack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152048"/>
          </a:solidFill>
          <a:ln w="15240">
            <a:solidFill>
              <a:srgbClr val="707FD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OpenZiti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057400" y="1691640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Transport / mesh network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2194560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152048"/>
          </a:solidFill>
          <a:ln w="15240">
            <a:solidFill>
              <a:srgbClr val="39A5D8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Zenoh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057400" y="2194560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plane (pub/sub + query)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2697480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152048"/>
          </a:solidFill>
          <a:ln w="15240">
            <a:solidFill>
              <a:srgbClr val="F8A45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Zitadel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057400" y="2697480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 provider (OIDC/SAML)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754880" y="128016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83C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Catalyst Router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754880" y="1691640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152048"/>
          </a:solidFill>
          <a:ln w="15240">
            <a:solidFill>
              <a:srgbClr val="0183C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Unopinionated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263640" y="1691640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Transport-agnostic (any proxy)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754880" y="2194560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152048"/>
          </a:solidFill>
          <a:ln w="15240">
            <a:solidFill>
              <a:srgbClr val="0183C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Envoy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263640" y="2194560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Routing layer 4–7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754880" y="2697480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152048"/>
          </a:solidFill>
          <a:ln w="15240">
            <a:solidFill>
              <a:srgbClr val="F8A45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JWT + Cedar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63640" y="2697480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JWT + Cedar + mTLS (coming soon)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0" y="1280160"/>
            <a:ext cx="914" cy="1920240"/>
          </a:xfrm>
          <a:prstGeom prst="line">
            <a:avLst/>
          </a:prstGeom>
          <a:noFill/>
          <a:ln w="12700">
            <a:solidFill>
              <a:srgbClr val="2D4BA9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548640" y="3337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 Intermix — but Distinctly Different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57600"/>
          <a:ext cx="8046720" cy="914400"/>
        </p:xfrm>
        <a:graphic>
          <a:graphicData uri="http://schemas.openxmlformats.org/drawingml/2006/table">
            <a:tbl>
              <a:tblPr/>
              <a:tblGrid>
                <a:gridCol w="2682240"/>
                <a:gridCol w="2682240"/>
                <a:gridCol w="26822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Dimension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83C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Overlay Stack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83C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Catalyst Router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83C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Network layer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Chooses a network (Ziti overlay)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Unopinionated — any proxy layer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Trust model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Org-managed identity provider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Works between 2 strangers in the wild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Adoption cost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SDK integration + overlay infra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Zero app changes — proxy sits alongside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Bureaucracy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Requires organizational mandate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 mandate — peer whenever ready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</a:tr>
            </a:tbl>
          </a:graphicData>
        </a:graphic>
      </p:graphicFrame>
      <p:sp>
        <p:nvSpPr>
          <p:cNvPr id="21" name="Text 18"/>
          <p:cNvSpPr/>
          <p:nvPr/>
        </p:nvSpPr>
        <p:spPr>
          <a:xfrm>
            <a:off x="548640" y="4572000"/>
            <a:ext cx="8046720" cy="411480"/>
          </a:xfrm>
          <a:prstGeom prst="roundRect">
            <a:avLst>
              <a:gd name="adj" fmla="val 13333"/>
            </a:avLst>
          </a:prstGeom>
          <a:solidFill>
            <a:srgbClr val="152048"/>
          </a:solidFill>
          <a:ln w="19050">
            <a:solidFill>
              <a:srgbClr val="0183CA"/>
            </a:solidFill>
          </a:ln>
        </p:spPr>
        <p:txBody>
          <a:bodyPr wrap="square" lIns="50800" tIns="127000" rIns="127000" bIns="508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Catalyst Routers bridge trust domains at the lowest friction point: two parties agree to peer, and traffic flows. No overlay, no SDK, no org-wide rollout.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B8FB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Architecture Overview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node is a self-contained pod with control plane + data plane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371600" y="132588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 Plane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371600" y="1554480"/>
            <a:ext cx="5029200" cy="1828800"/>
          </a:xfrm>
          <a:prstGeom prst="rect">
            <a:avLst>
              <a:gd name="adj" fmla="val 5000"/>
            </a:avLst>
          </a:prstGeom>
          <a:solidFill>
            <a:srgbClr val="152048"/>
          </a:solidFill>
          <a:ln w="12700">
            <a:solidFill>
              <a:srgbClr val="2D4BA9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2743200" y="1828800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152048"/>
          </a:solidFill>
          <a:ln w="15240">
            <a:solidFill>
              <a:srgbClr val="0183C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Orchestrator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554480" y="2560320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152048"/>
          </a:solidFill>
          <a:ln w="15240">
            <a:solidFill>
              <a:srgbClr val="F8A45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 Service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206240" y="2560320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152048"/>
          </a:solidFill>
          <a:ln w="15240">
            <a:solidFill>
              <a:srgbClr val="707FD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Envoy Service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(xDS)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 flipH="1">
            <a:off x="2331720" y="2331720"/>
            <a:ext cx="868680" cy="228600"/>
          </a:xfrm>
          <a:prstGeom prst="line">
            <a:avLst/>
          </a:prstGeom>
          <a:noFill/>
          <a:ln w="15240">
            <a:solidFill>
              <a:srgbClr val="7B8FB8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2331720" y="2331720"/>
            <a:ext cx="868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RPC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114800" y="2331720"/>
            <a:ext cx="868680" cy="228600"/>
          </a:xfrm>
          <a:prstGeom prst="line">
            <a:avLst/>
          </a:prstGeom>
          <a:noFill/>
          <a:ln w="15240">
            <a:solidFill>
              <a:srgbClr val="7B8FB8"/>
            </a:solidFill>
            <a:prstDash val="solid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4114800" y="2331720"/>
            <a:ext cx="868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RPC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371600" y="352044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Plane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560320" y="3794760"/>
            <a:ext cx="2651760" cy="502920"/>
          </a:xfrm>
          <a:prstGeom prst="roundRect">
            <a:avLst>
              <a:gd name="adj" fmla="val 14545"/>
            </a:avLst>
          </a:prstGeom>
          <a:solidFill>
            <a:srgbClr val="152048"/>
          </a:solidFill>
          <a:ln w="15240">
            <a:solidFill>
              <a:srgbClr val="707FD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Envoy Proxy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 flipH="1">
            <a:off x="3886200" y="3017520"/>
            <a:ext cx="1097280" cy="777240"/>
          </a:xfrm>
          <a:prstGeom prst="line">
            <a:avLst/>
          </a:prstGeom>
          <a:noFill/>
          <a:ln w="15240">
            <a:solidFill>
              <a:srgbClr val="707FDC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3886200" y="3200400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xDS gRPC (ADS)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274320" y="3794760"/>
            <a:ext cx="1097280" cy="502920"/>
          </a:xfrm>
          <a:prstGeom prst="roundRect">
            <a:avLst>
              <a:gd name="adj" fmla="val 14545"/>
            </a:avLst>
          </a:prstGeom>
          <a:solidFill>
            <a:srgbClr val="152048"/>
          </a:solidFill>
          <a:ln w="15240">
            <a:solidFill>
              <a:srgbClr val="39A5D8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Clients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371600" y="4041648"/>
            <a:ext cx="1188720" cy="914"/>
          </a:xfrm>
          <a:prstGeom prst="line">
            <a:avLst/>
          </a:prstGeom>
          <a:noFill/>
          <a:ln w="15240">
            <a:solidFill>
              <a:srgbClr val="7B8FB8"/>
            </a:solidFill>
            <a:prstDash val="solid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1371600" y="3840480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 / gRPC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400800" y="3794760"/>
            <a:ext cx="1371600" cy="502920"/>
          </a:xfrm>
          <a:prstGeom prst="roundRect">
            <a:avLst>
              <a:gd name="adj" fmla="val 14545"/>
            </a:avLst>
          </a:prstGeom>
          <a:solidFill>
            <a:srgbClr val="152048"/>
          </a:solidFill>
          <a:ln w="15240">
            <a:solidFill>
              <a:srgbClr val="6DCFF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Peer Nodes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212080" y="4041648"/>
            <a:ext cx="1188720" cy="914"/>
          </a:xfrm>
          <a:prstGeom prst="line">
            <a:avLst/>
          </a:prstGeom>
          <a:noFill/>
          <a:ln w="15240">
            <a:solidFill>
              <a:srgbClr val="7B8FB8"/>
            </a:solidFill>
            <a:prstDash val="solid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5212080" y="3840480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Envoy Mesh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00800" y="1828800"/>
            <a:ext cx="1371600" cy="502920"/>
          </a:xfrm>
          <a:prstGeom prst="roundRect">
            <a:avLst>
              <a:gd name="adj" fmla="val 14545"/>
            </a:avLst>
          </a:prstGeom>
          <a:solidFill>
            <a:srgbClr val="152048"/>
          </a:solidFill>
          <a:ln w="15240">
            <a:solidFill>
              <a:srgbClr val="6DCFF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Orchestrators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0" y="2075688"/>
            <a:ext cx="1828800" cy="914"/>
          </a:xfrm>
          <a:prstGeom prst="line">
            <a:avLst/>
          </a:prstGeom>
          <a:noFill/>
          <a:ln w="15240">
            <a:solidFill>
              <a:srgbClr val="7B8FB8"/>
            </a:solidFill>
            <a:prstDash val="solid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4572000" y="187452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WebSocket RPC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548640" y="4526280"/>
            <a:ext cx="8046720" cy="411480"/>
          </a:xfrm>
          <a:prstGeom prst="roundRect">
            <a:avLst>
              <a:gd name="adj" fmla="val 13333"/>
            </a:avLst>
          </a:prstGeom>
          <a:solidFill>
            <a:srgbClr val="152048"/>
          </a:solidFill>
          <a:ln w="19050">
            <a:solidFill>
              <a:srgbClr val="0183CA"/>
            </a:solidFill>
          </a:ln>
        </p:spPr>
        <p:txBody>
          <a:bodyPr wrap="square" lIns="50800" tIns="127000" rIns="127000" bIns="508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Orchestrator decides routing policy. Envoy executes traffic forwarding. Auth gates every operation.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B8FB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BGP-Inspired Routing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Adapted from the internet's routing protocol for service-level discovery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BGP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3657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Routes IP prefixes (10.0.0.0/24)</a:t>
            </a:r>
            <a:endParaRPr lang="en-US" sz="13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 hop = IP address</a:t>
            </a:r>
            <a:endParaRPr lang="en-US" sz="13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AS_PATH prevents routing loops</a:t>
            </a:r>
            <a:endParaRPr lang="en-US" sz="13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Forwarding at IP layer</a:t>
            </a:r>
            <a:endParaRPr lang="en-US" sz="13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iBGP within an AS, eBGP between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937760" y="12801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83C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Catalyst Routing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937760" y="1645920"/>
            <a:ext cx="3840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Routes service names (books-api)</a:t>
            </a:r>
            <a:endParaRPr lang="en-US" sz="13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 hop = Node FQDN + Envoy port</a:t>
            </a:r>
            <a:endParaRPr lang="en-US" sz="13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nodePath prevents routing loops</a:t>
            </a:r>
            <a:endParaRPr lang="en-US" sz="13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Forwarding via Envoy proxy</a:t>
            </a:r>
            <a:endParaRPr lang="en-US" sz="13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iBGP implemented, eBGP reserved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8046720" cy="914400"/>
        </p:xfrm>
        <a:graphic>
          <a:graphicData uri="http://schemas.openxmlformats.org/drawingml/2006/table">
            <a:tbl>
              <a:tblPr/>
              <a:tblGrid>
                <a:gridCol w="2682240"/>
                <a:gridCol w="2682240"/>
                <a:gridCol w="26822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BGP Concept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83C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Catalyst Equivalent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83C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Example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83C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Autonomous System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Domain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somebiz.local.io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CIDR Prefix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Service Name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books-api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AS_PATH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nodePath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["node-b", "node-a"]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Next Hop IP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envoyAddress + envoyPort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envoy-proxy-a:10001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UPDATE message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InternalProtocolUpdate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{ action: "add", route, nodePath }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B8FB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Peering Protocol Flow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Three-stage handshake with full table sync on connect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737360" y="1371600"/>
            <a:ext cx="1097280" cy="365760"/>
          </a:xfrm>
          <a:prstGeom prst="roundRect">
            <a:avLst>
              <a:gd name="adj" fmla="val 20000"/>
            </a:avLst>
          </a:prstGeom>
          <a:solidFill>
            <a:srgbClr val="152048"/>
          </a:solidFill>
          <a:ln w="15240">
            <a:solidFill>
              <a:srgbClr val="0183C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Node 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852160" y="1371600"/>
            <a:ext cx="1097280" cy="365760"/>
          </a:xfrm>
          <a:prstGeom prst="roundRect">
            <a:avLst>
              <a:gd name="adj" fmla="val 20000"/>
            </a:avLst>
          </a:prstGeom>
          <a:solidFill>
            <a:srgbClr val="152048"/>
          </a:solidFill>
          <a:ln w="15240">
            <a:solidFill>
              <a:srgbClr val="39A5D8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Node B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0" y="1737360"/>
            <a:ext cx="914" cy="2377440"/>
          </a:xfrm>
          <a:prstGeom prst="line">
            <a:avLst/>
          </a:prstGeom>
          <a:noFill/>
          <a:ln w="12700">
            <a:solidFill>
              <a:srgbClr val="2D4BA9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6400800" y="1737360"/>
            <a:ext cx="914" cy="2377440"/>
          </a:xfrm>
          <a:prstGeom prst="line">
            <a:avLst/>
          </a:prstGeom>
          <a:noFill/>
          <a:ln w="12700">
            <a:solidFill>
              <a:srgbClr val="2D4BA9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2286000" y="2011680"/>
            <a:ext cx="4114800" cy="914"/>
          </a:xfrm>
          <a:prstGeom prst="line">
            <a:avLst/>
          </a:prstGeom>
          <a:noFill/>
          <a:ln w="15240">
            <a:solidFill>
              <a:srgbClr val="0183CA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2286000" y="1810512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addPeer(B) -&gt; open(nodeA_info)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 flipH="1">
            <a:off x="2286000" y="2468880"/>
            <a:ext cx="4114800" cy="914"/>
          </a:xfrm>
          <a:prstGeom prst="line">
            <a:avLst/>
          </a:prstGeom>
          <a:noFill/>
          <a:ln w="15240">
            <a:solidFill>
              <a:srgbClr val="39A5D8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2286000" y="2267712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InternalProtocolOpen -&gt; sync full route table to A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286000" y="2926080"/>
            <a:ext cx="4114800" cy="914"/>
          </a:xfrm>
          <a:prstGeom prst="line">
            <a:avLst/>
          </a:prstGeom>
          <a:noFill/>
          <a:ln w="15240">
            <a:solidFill>
              <a:srgbClr val="0183CA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2286000" y="2724912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InternalProtocolConnected -&gt; sync full route table to B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2286000" y="3383280"/>
            <a:ext cx="4114800" cy="914"/>
          </a:xfrm>
          <a:prstGeom prst="line">
            <a:avLst/>
          </a:prstGeom>
          <a:noFill/>
          <a:ln w="15240">
            <a:solidFill>
              <a:srgbClr val="6DCFF6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2286000" y="3182112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InternalProtocolUpdate (ongoing)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 flipH="1">
            <a:off x="2286000" y="3657600"/>
            <a:ext cx="4114800" cy="914"/>
          </a:xfrm>
          <a:prstGeom prst="line">
            <a:avLst/>
          </a:prstGeom>
          <a:noFill/>
          <a:ln w="15240">
            <a:solidFill>
              <a:srgbClr val="6DCFF6"/>
            </a:solidFill>
            <a:prstDash val="solid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2286000" y="3456432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Route adds/removes propagate bidirectionally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48640" y="4251960"/>
            <a:ext cx="8046720" cy="502920"/>
          </a:xfrm>
          <a:prstGeom prst="roundRect">
            <a:avLst>
              <a:gd name="adj" fmla="val 10909"/>
            </a:avLst>
          </a:prstGeom>
          <a:solidFill>
            <a:srgbClr val="152048"/>
          </a:solidFill>
          <a:ln w="19050">
            <a:solidFill>
              <a:srgbClr val="F8A451"/>
            </a:solidFill>
          </a:ln>
        </p:spPr>
        <p:txBody>
          <a:bodyPr wrap="square" lIns="50800" tIns="127000" rIns="127000" bIns="508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Loop Prevention: every route carries nodePath[] — an ordered list of node FQDNs it has traversed. If a node sees itself in the path, the route is dropped.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B8FB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Route Table &amp; Action/Reducer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Event-sourced state management inspired by Redux + BGP RIB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88720" cy="594360"/>
          </a:xfrm>
          <a:prstGeom prst="roundRect">
            <a:avLst>
              <a:gd name="adj" fmla="val 12308"/>
            </a:avLst>
          </a:prstGeom>
          <a:solidFill>
            <a:srgbClr val="152048"/>
          </a:solidFill>
          <a:ln w="15240">
            <a:solidFill>
              <a:srgbClr val="0183C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(Event)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737360" y="1709928"/>
            <a:ext cx="365760" cy="914"/>
          </a:xfrm>
          <a:prstGeom prst="line">
            <a:avLst/>
          </a:prstGeom>
          <a:noFill/>
          <a:ln w="15240">
            <a:solidFill>
              <a:srgbClr val="0183CA"/>
            </a:solidFill>
            <a:prstDash val="solid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2103120" y="1417320"/>
            <a:ext cx="1645920" cy="594360"/>
          </a:xfrm>
          <a:prstGeom prst="roundRect">
            <a:avLst>
              <a:gd name="adj" fmla="val 12308"/>
            </a:avLst>
          </a:prstGeom>
          <a:solidFill>
            <a:srgbClr val="152048"/>
          </a:solidFill>
          <a:ln w="15240">
            <a:solidFill>
              <a:srgbClr val="39A5D8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handleAction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(Sync Reducer)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749040" y="1709928"/>
            <a:ext cx="365760" cy="914"/>
          </a:xfrm>
          <a:prstGeom prst="line">
            <a:avLst/>
          </a:prstGeom>
          <a:noFill/>
          <a:ln w="15240">
            <a:solidFill>
              <a:srgbClr val="39A5D8"/>
            </a:solidFill>
            <a:prstDash val="solid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4114800" y="1417320"/>
            <a:ext cx="1188720" cy="594360"/>
          </a:xfrm>
          <a:prstGeom prst="roundRect">
            <a:avLst>
              <a:gd name="adj" fmla="val 12308"/>
            </a:avLst>
          </a:prstGeom>
          <a:solidFill>
            <a:srgbClr val="152048"/>
          </a:solidFill>
          <a:ln w="15240">
            <a:solidFill>
              <a:srgbClr val="6DCFF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State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303520" y="1709928"/>
            <a:ext cx="365760" cy="914"/>
          </a:xfrm>
          <a:prstGeom prst="line">
            <a:avLst/>
          </a:prstGeom>
          <a:noFill/>
          <a:ln w="15240">
            <a:solidFill>
              <a:srgbClr val="6DCFF6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5669280" y="1417320"/>
            <a:ext cx="1645920" cy="594360"/>
          </a:xfrm>
          <a:prstGeom prst="roundRect">
            <a:avLst>
              <a:gd name="adj" fmla="val 12308"/>
            </a:avLst>
          </a:prstGeom>
          <a:solidFill>
            <a:srgbClr val="152048"/>
          </a:solidFill>
          <a:ln w="15240">
            <a:solidFill>
              <a:srgbClr val="707FD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handleNotify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(Async Effects)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0" y="1709928"/>
            <a:ext cx="365760" cy="914"/>
          </a:xfrm>
          <a:prstGeom prst="line">
            <a:avLst/>
          </a:prstGeom>
          <a:noFill/>
          <a:ln w="15240">
            <a:solidFill>
              <a:srgbClr val="707FDC"/>
            </a:solidFill>
            <a:prstDash val="solid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7680960" y="1417320"/>
            <a:ext cx="1188720" cy="594360"/>
          </a:xfrm>
          <a:prstGeom prst="roundRect">
            <a:avLst>
              <a:gd name="adj" fmla="val 12308"/>
            </a:avLst>
          </a:prstGeom>
          <a:solidFill>
            <a:srgbClr val="152048"/>
          </a:solidFill>
          <a:ln w="15240">
            <a:solidFill>
              <a:srgbClr val="F8A45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RPC to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Peers/Envoy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86000"/>
          <a:ext cx="80467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01168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Section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83C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Contains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83C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Source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83C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Purpose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83C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local.routes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DataChannelDefinition[]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CLI / Admin API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Services this node originates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internal.peers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PeerRecord[]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addPeer / protocol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Connected peer state + peerToken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internal.routes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InternalRoute[]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Peer UPDATE msgs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Services learned from iBGP peers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external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(reserved)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Future eBGP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Cross-domain federation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</a:tr>
            </a:tbl>
          </a:graphicData>
        </a:graphic>
      </p:graphicFrame>
      <p:sp>
        <p:nvSpPr>
          <p:cNvPr id="14" name="Text 11"/>
          <p:cNvSpPr/>
          <p:nvPr/>
        </p:nvSpPr>
        <p:spPr>
          <a:xfrm>
            <a:off x="548640" y="35204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Action Types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794760"/>
            <a:ext cx="8046720" cy="1097280"/>
          </a:xfrm>
          <a:prstGeom prst="roundRect">
            <a:avLst>
              <a:gd name="adj" fmla="val 5000"/>
            </a:avLst>
          </a:prstGeom>
          <a:solidFill>
            <a:srgbClr val="080E28"/>
          </a:solidFill>
          <a:ln/>
        </p:spPr>
        <p:txBody>
          <a:bodyPr wrap="square" lIns="76200" tIns="127000" rIns="127000" bIns="7620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0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Peer Management         Route Management        Protocol (iBGP)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0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─────────────────       ──────────────────      ─────────────────────────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0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LocalPeerCreate         LocalRouteCreate        InternalProtocolOpen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0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LocalPeerUpdate         LocalRouteDelete        InternalProtocolClose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0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LocalPeerDelete                                 InternalProtocolConnected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0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  InternalProtocolUpdate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B8FB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Authentication: ES384 JWTs + Cedar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RPC call is gated by token validation and Cedar policy evaluation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4572000" cy="2286000"/>
          </a:xfrm>
          <a:prstGeom prst="roundRect">
            <a:avLst>
              <a:gd name="adj" fmla="val 2400"/>
            </a:avLst>
          </a:prstGeom>
          <a:solidFill>
            <a:srgbClr val="080E28"/>
          </a:solidFill>
          <a:ln/>
        </p:spPr>
        <p:txBody>
          <a:bodyPr wrap="square" lIns="76200" tIns="127000" rIns="127000" bIns="7620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0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0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"alg": "ES384",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0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"sub": "node-a.somebiz.local.io",      // Subject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0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"iss": "catalyst",                      // Issuer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0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"principal": "CATALYST::NODE",           // Cedar principal type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0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"entity":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0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"trustedDomains": ["somebiz.local.io"],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0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"trustedNodes": []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0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0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"cnf": { "x5t#S256": "..." },           // Future: cert binding (RFC 8705)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0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"jti": "unique-id", "exp": ..., "iat": ...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0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94960" y="12344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Principal Types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94960" y="1554480"/>
          <a:ext cx="33832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6916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Principal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A45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Permissions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A45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ADMIN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All actions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NODE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IBGP_CONNECT, UPDATE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NODE_CUSTODIAN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PEER_*, IBGP_*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DATA_CUSTODIAN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ROUTE_CREATE, DELETE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USER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LOGIN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3657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Scoped Client Model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4023360"/>
            <a:ext cx="2286000" cy="502920"/>
          </a:xfrm>
          <a:prstGeom prst="roundRect">
            <a:avLst>
              <a:gd name="adj" fmla="val 14545"/>
            </a:avLst>
          </a:prstGeom>
          <a:solidFill>
            <a:srgbClr val="152048"/>
          </a:solidFill>
          <a:ln w="15240">
            <a:solidFill>
              <a:srgbClr val="0183C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NetworkClient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(Peer Mgmt)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3108960" y="4023360"/>
            <a:ext cx="2286000" cy="502920"/>
          </a:xfrm>
          <a:prstGeom prst="roundRect">
            <a:avLst>
              <a:gd name="adj" fmla="val 14545"/>
            </a:avLst>
          </a:prstGeom>
          <a:solidFill>
            <a:srgbClr val="152048"/>
          </a:solidFill>
          <a:ln w="15240">
            <a:solidFill>
              <a:srgbClr val="39A5D8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DataChannel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(Routes)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0" y="4023360"/>
            <a:ext cx="2286000" cy="502920"/>
          </a:xfrm>
          <a:prstGeom prst="roundRect">
            <a:avLst>
              <a:gd name="adj" fmla="val 14545"/>
            </a:avLst>
          </a:prstGeom>
          <a:solidFill>
            <a:srgbClr val="152048"/>
          </a:solidFill>
          <a:ln w="15240">
            <a:solidFill>
              <a:srgbClr val="707FD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IBGPClient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(Internal Protocol)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48640" y="4663440"/>
            <a:ext cx="8046720" cy="320040"/>
          </a:xfrm>
          <a:prstGeom prst="roundRect">
            <a:avLst>
              <a:gd name="adj" fmla="val 17143"/>
            </a:avLst>
          </a:prstGeom>
          <a:solidFill>
            <a:srgbClr val="152048"/>
          </a:solidFill>
          <a:ln w="19050">
            <a:solidFill>
              <a:srgbClr val="F8A451"/>
            </a:solidFill>
          </a:ln>
        </p:spPr>
        <p:txBody>
          <a:bodyPr wrap="square" lIns="50800" tIns="127000" rIns="127000" bIns="508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Cedar policy engine evaluates: Can this principal perform this action on this resource?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B8FB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Peer Token Exchange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node has its OWN auth service — cross-minting enables peering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463040" cy="502920"/>
          </a:xfrm>
          <a:prstGeom prst="roundRect">
            <a:avLst>
              <a:gd name="adj" fmla="val 14545"/>
            </a:avLst>
          </a:prstGeom>
          <a:solidFill>
            <a:srgbClr val="152048"/>
          </a:solidFill>
          <a:ln w="15240">
            <a:solidFill>
              <a:srgbClr val="0183C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Node 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Orchestrator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0" y="1371600"/>
            <a:ext cx="1645920" cy="502920"/>
          </a:xfrm>
          <a:prstGeom prst="roundRect">
            <a:avLst>
              <a:gd name="adj" fmla="val 14545"/>
            </a:avLst>
          </a:prstGeom>
          <a:solidFill>
            <a:srgbClr val="152048"/>
          </a:solidFill>
          <a:ln w="15240">
            <a:solidFill>
              <a:srgbClr val="F8A45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Auth-B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(Node B's Auth)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675120" y="1371600"/>
            <a:ext cx="1463040" cy="502920"/>
          </a:xfrm>
          <a:prstGeom prst="roundRect">
            <a:avLst>
              <a:gd name="adj" fmla="val 14545"/>
            </a:avLst>
          </a:prstGeom>
          <a:solidFill>
            <a:srgbClr val="152048"/>
          </a:solidFill>
          <a:ln w="15240">
            <a:solidFill>
              <a:srgbClr val="39A5D8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Node B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Orchestrator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371600" y="1874520"/>
            <a:ext cx="914" cy="1965960"/>
          </a:xfrm>
          <a:prstGeom prst="line">
            <a:avLst/>
          </a:prstGeom>
          <a:noFill/>
          <a:ln w="12700">
            <a:solidFill>
              <a:srgbClr val="2D4BA9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4389120" y="1874520"/>
            <a:ext cx="914" cy="1965960"/>
          </a:xfrm>
          <a:prstGeom prst="line">
            <a:avLst/>
          </a:prstGeom>
          <a:noFill/>
          <a:ln w="12700">
            <a:solidFill>
              <a:srgbClr val="2D4BA9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7315200" y="1874520"/>
            <a:ext cx="914" cy="1965960"/>
          </a:xfrm>
          <a:prstGeom prst="line">
            <a:avLst/>
          </a:prstGeom>
          <a:noFill/>
          <a:ln w="12700">
            <a:solidFill>
              <a:srgbClr val="2D4BA9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274320" y="2121408"/>
            <a:ext cx="274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183C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371600" y="2194560"/>
            <a:ext cx="3017520" cy="914"/>
          </a:xfrm>
          <a:prstGeom prst="line">
            <a:avLst/>
          </a:prstGeom>
          <a:noFill/>
          <a:ln w="15240">
            <a:solidFill>
              <a:srgbClr val="F8A451"/>
            </a:solidFill>
            <a:prstDash val="solid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1371600" y="1993392"/>
            <a:ext cx="3017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Mint peer token for Node A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274320" y="2532888"/>
            <a:ext cx="274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183C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 flipH="1">
            <a:off x="1371600" y="2606040"/>
            <a:ext cx="3017520" cy="914"/>
          </a:xfrm>
          <a:prstGeom prst="line">
            <a:avLst/>
          </a:prstGeom>
          <a:noFill/>
          <a:ln w="15240">
            <a:solidFill>
              <a:srgbClr val="F8A451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1371600" y="2404872"/>
            <a:ext cx="3017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JWT signed by Auth-B returned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274320" y="2944368"/>
            <a:ext cx="274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183C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371600" y="3017520"/>
            <a:ext cx="5943600" cy="914"/>
          </a:xfrm>
          <a:prstGeom prst="line">
            <a:avLst/>
          </a:prstGeom>
          <a:noFill/>
          <a:ln w="15240">
            <a:solidFill>
              <a:srgbClr val="0183CA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1371600" y="2816352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 + present peerToken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74320" y="3355848"/>
            <a:ext cx="274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183C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 flipH="1">
            <a:off x="4389120" y="3429000"/>
            <a:ext cx="2926080" cy="914"/>
          </a:xfrm>
          <a:prstGeom prst="line">
            <a:avLst/>
          </a:prstGeom>
          <a:noFill/>
          <a:ln w="15240">
            <a:solidFill>
              <a:srgbClr val="39A5D8"/>
            </a:solidFill>
            <a:prstDash val="solid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4389120" y="3227832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Validate token with local Auth-B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74320" y="3794760"/>
            <a:ext cx="274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DCF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48640" y="3794760"/>
            <a:ext cx="8046720" cy="320040"/>
          </a:xfrm>
          <a:prstGeom prst="roundRect">
            <a:avLst>
              <a:gd name="adj" fmla="val 17143"/>
            </a:avLst>
          </a:prstGeom>
          <a:solidFill>
            <a:srgbClr val="152048"/>
          </a:solidFill>
          <a:ln w="19050">
            <a:solidFill>
              <a:srgbClr val="6DCFF6"/>
            </a:solidFill>
          </a:ln>
        </p:spPr>
        <p:txBody>
          <a:bodyPr wrap="square" lIns="50800" tIns="127000" rIns="127000" bIns="508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iBGP session established — bidirectional route sync begins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8640" y="4251960"/>
            <a:ext cx="8046720" cy="411480"/>
          </a:xfrm>
          <a:prstGeom prst="roundRect">
            <a:avLst>
              <a:gd name="adj" fmla="val 13333"/>
            </a:avLst>
          </a:prstGeom>
          <a:solidFill>
            <a:srgbClr val="152048"/>
          </a:solidFill>
          <a:ln w="19050">
            <a:solidFill>
              <a:srgbClr val="FF5C5C"/>
            </a:solidFill>
          </a:ln>
        </p:spPr>
        <p:txBody>
          <a:bodyPr wrap="square" lIns="50800" tIns="127000" rIns="127000" bIns="508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Key: The peerToken is the ONLY credential used. If it is missing or invalid, connection fails with CRITICAL error.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B8FB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 Gap: Where mTLS Will Be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Current JWT-only auth vs future certificate-bound tokens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A4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Current State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3657600" cy="2011680"/>
          </a:xfrm>
          <a:prstGeom prst="rect">
            <a:avLst>
              <a:gd name="adj" fmla="val 3636"/>
            </a:avLst>
          </a:prstGeom>
          <a:solidFill>
            <a:srgbClr val="152048"/>
          </a:solidFill>
          <a:ln w="19050">
            <a:solidFill>
              <a:srgbClr val="F8A45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737360"/>
            <a:ext cx="32918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JWT over unencrypted WebSocket</a:t>
            </a:r>
            <a:endParaRPr lang="en-US" sz="12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Token alone is sufficient to authenticate</a:t>
            </a:r>
            <a:endParaRPr lang="en-US" sz="12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channel binding to transport</a:t>
            </a:r>
            <a:endParaRPr lang="en-US" sz="12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Token theft = full impersonation</a:t>
            </a:r>
            <a:endParaRPr lang="en-US" sz="12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Sufficient for dev/testing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937760" y="12801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CF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Future: mTLS + DPoP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937760" y="1645920"/>
            <a:ext cx="3840480" cy="2011680"/>
          </a:xfrm>
          <a:prstGeom prst="rect">
            <a:avLst>
              <a:gd name="adj" fmla="val 3636"/>
            </a:avLst>
          </a:prstGeom>
          <a:solidFill>
            <a:srgbClr val="152048"/>
          </a:solidFill>
          <a:ln w="19050">
            <a:solidFill>
              <a:srgbClr val="6DCF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20640" y="1737360"/>
            <a:ext cx="34747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Mutual TLS on all peer connections</a:t>
            </a:r>
            <a:endParaRPr lang="en-US" sz="12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cnf claim binds JWT to cert (RFC 8705)</a:t>
            </a:r>
            <a:endParaRPr lang="en-US" sz="12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SHA-256 thumbprint matching</a:t>
            </a:r>
            <a:endParaRPr lang="en-US" sz="12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Sender-constrained: token useless without key</a:t>
            </a:r>
            <a:endParaRPr lang="en-US" sz="12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6DCF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Production security model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114800" y="237744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183C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&gt;&gt;&gt;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48640" y="38404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What's Already in Place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4114800"/>
            <a:ext cx="365760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DCF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Token structure has cnf claim field</a:t>
            </a:r>
            <a:endParaRPr lang="en-US" sz="11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DCF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Token store tracks certificateFingerprint</a:t>
            </a:r>
            <a:endParaRPr lang="en-US" sz="11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DCF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ADR 0007 specifies the architecture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937760" y="38404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What's Missing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937760" y="4114800"/>
            <a:ext cx="384048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5C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TLS termination on WebSocket endpoints</a:t>
            </a:r>
            <a:endParaRPr lang="en-US" sz="11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5C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Client certificate validation in Hono</a:t>
            </a:r>
            <a:endParaRPr lang="en-US" sz="11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5C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Thumbprint matching during token verify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B8FB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Envoy: xDS Control Plane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ADS (Aggregated Discovery Service) over gRPC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554480" cy="502920"/>
          </a:xfrm>
          <a:prstGeom prst="roundRect">
            <a:avLst>
              <a:gd name="adj" fmla="val 14545"/>
            </a:avLst>
          </a:prstGeom>
          <a:solidFill>
            <a:srgbClr val="152048"/>
          </a:solidFill>
          <a:ln w="15240">
            <a:solidFill>
              <a:srgbClr val="0183C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Orchestrator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103120" y="1892808"/>
            <a:ext cx="640080" cy="914"/>
          </a:xfrm>
          <a:prstGeom prst="line">
            <a:avLst/>
          </a:prstGeom>
          <a:noFill/>
          <a:ln w="15240">
            <a:solidFill>
              <a:srgbClr val="7B8FB8"/>
            </a:solidFill>
            <a:prstDash val="solid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2103120" y="1691640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Capnweb RPC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2743200" y="1645920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152048"/>
          </a:solidFill>
          <a:ln w="15240">
            <a:solidFill>
              <a:srgbClr val="707FD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Envoy Service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(xDS Server)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0" y="1892808"/>
            <a:ext cx="640080" cy="914"/>
          </a:xfrm>
          <a:prstGeom prst="line">
            <a:avLst/>
          </a:prstGeom>
          <a:noFill/>
          <a:ln w="15240">
            <a:solidFill>
              <a:srgbClr val="7B8FB8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4572000" y="1691640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ADS gRPC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212080" y="1645920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152048"/>
          </a:solidFill>
          <a:ln w="15240">
            <a:solidFill>
              <a:srgbClr val="707FD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Envoy Proxy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(Data Plane)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00400" y="2377440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152048"/>
          </a:solidFill>
          <a:ln w="15240">
            <a:solidFill>
              <a:srgbClr val="152048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Snapshot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Cache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0" y="2148840"/>
            <a:ext cx="914" cy="228600"/>
          </a:xfrm>
          <a:prstGeom prst="line">
            <a:avLst/>
          </a:prstGeom>
          <a:noFill/>
          <a:ln w="12700">
            <a:solidFill>
              <a:srgbClr val="707F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017520"/>
            <a:ext cx="4572000" cy="1243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Single gRPC stream carries all resource types (ADS)</a:t>
            </a:r>
            <a:endParaRPr lang="en-US" sz="12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State of the World (SotW) — full config push each snapshot</a:t>
            </a:r>
            <a:endParaRPr lang="en-US" sz="12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CDS sent before LDS (prevents traffic blackholing)</a:t>
            </a:r>
            <a:endParaRPr lang="en-US" sz="12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Version-based ACK/NACK for consistency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8229600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Resource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707FD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Type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707FD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Naming Pattern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707FD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Example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707FD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Ingress Listener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LDS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ingress_{channel}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ingress_books-api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Egress Listener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LDS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egress_{channel}_via_{peer}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egress_books-api_via_node-b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Local Cluster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CDS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local_{channel}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local_books-api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Remote Cluster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CDS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remote_{channel}_via_{peer}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remote_books-api_via_node-b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B8FB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Listener &amp; Cluster Model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Ingress serves remote peers — Egress reaches remote services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9A5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INGRESS (serving remote peers)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152048"/>
          </a:solidFill>
          <a:ln w="15240">
            <a:solidFill>
              <a:srgbClr val="6DCFF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Remote Peer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828800" y="1920240"/>
            <a:ext cx="365760" cy="914"/>
          </a:xfrm>
          <a:prstGeom prst="line">
            <a:avLst/>
          </a:prstGeom>
          <a:noFill/>
          <a:ln w="15240">
            <a:solidFill>
              <a:srgbClr val="39A5D8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2194560" y="169164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152048"/>
          </a:solidFill>
          <a:ln w="15240">
            <a:solidFill>
              <a:srgbClr val="707FD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ingress_books-api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:10001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023360" y="1920240"/>
            <a:ext cx="365760" cy="914"/>
          </a:xfrm>
          <a:prstGeom prst="line">
            <a:avLst/>
          </a:prstGeom>
          <a:noFill/>
          <a:ln w="15240">
            <a:solidFill>
              <a:srgbClr val="39A5D8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4389120" y="1691640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152048"/>
          </a:solidFill>
          <a:ln w="15240">
            <a:solidFill>
              <a:srgbClr val="707FD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local_books-api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943600" y="1920240"/>
            <a:ext cx="365760" cy="914"/>
          </a:xfrm>
          <a:prstGeom prst="line">
            <a:avLst/>
          </a:prstGeom>
          <a:noFill/>
          <a:ln w="15240">
            <a:solidFill>
              <a:srgbClr val="39A5D8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6309360" y="1691640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152048"/>
          </a:solidFill>
          <a:ln w="15240">
            <a:solidFill>
              <a:srgbClr val="39A5D8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books:8080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2468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A4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EGRESS (reaching remote services)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2880360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152048"/>
          </a:solidFill>
          <a:ln w="15240">
            <a:solidFill>
              <a:srgbClr val="0183C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Local App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828800" y="3108960"/>
            <a:ext cx="365760" cy="914"/>
          </a:xfrm>
          <a:prstGeom prst="line">
            <a:avLst/>
          </a:prstGeom>
          <a:noFill/>
          <a:ln w="15240">
            <a:solidFill>
              <a:srgbClr val="F8A451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2194560" y="2880360"/>
            <a:ext cx="2011680" cy="457200"/>
          </a:xfrm>
          <a:prstGeom prst="roundRect">
            <a:avLst>
              <a:gd name="adj" fmla="val 16000"/>
            </a:avLst>
          </a:prstGeom>
          <a:solidFill>
            <a:srgbClr val="152048"/>
          </a:solidFill>
          <a:ln w="15240">
            <a:solidFill>
              <a:srgbClr val="707FD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egress_books-api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_via_node-a :10011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06240" y="3108960"/>
            <a:ext cx="365760" cy="914"/>
          </a:xfrm>
          <a:prstGeom prst="line">
            <a:avLst/>
          </a:prstGeom>
          <a:noFill/>
          <a:ln w="15240">
            <a:solidFill>
              <a:srgbClr val="F8A451"/>
            </a:solidFill>
            <a:prstDash val="solid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4572000" y="288036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152048"/>
          </a:solidFill>
          <a:ln w="15240">
            <a:solidFill>
              <a:srgbClr val="707FD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remote_books-api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_via_node-a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0" y="3108960"/>
            <a:ext cx="365760" cy="914"/>
          </a:xfrm>
          <a:prstGeom prst="line">
            <a:avLst/>
          </a:prstGeom>
          <a:noFill/>
          <a:ln w="15240">
            <a:solidFill>
              <a:srgbClr val="F8A451"/>
            </a:solidFill>
            <a:prstDash val="solid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6766560" y="2880360"/>
            <a:ext cx="1188720" cy="457200"/>
          </a:xfrm>
          <a:prstGeom prst="roundRect">
            <a:avLst>
              <a:gd name="adj" fmla="val 16000"/>
            </a:avLst>
          </a:prstGeom>
          <a:solidFill>
            <a:srgbClr val="152048"/>
          </a:solidFill>
          <a:ln w="15240">
            <a:solidFill>
              <a:srgbClr val="6DCFF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node-a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:10001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" y="35661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Protocol-Aware Configuration</a:t>
            </a:r>
            <a:endParaRPr lang="en-US" sz="13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80467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01168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Protocol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707FD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Codec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707FD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WebSocket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707FD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Timeout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707FD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http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HTTP/1.1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Default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http:graphql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HTTP/1.1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Yes (subscriptions)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Disabled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http:grpc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HTTP/2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Disabled (streaming)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</a:tr>
            </a:tbl>
          </a:graphicData>
        </a:graphic>
      </p:graphicFrame>
      <p:sp>
        <p:nvSpPr>
          <p:cNvPr id="22" name="Text 19"/>
          <p:cNvSpPr/>
          <p:nvPr/>
        </p:nvSpPr>
        <p:spPr>
          <a:xfrm>
            <a:off x="548640" y="4617720"/>
            <a:ext cx="8046720" cy="320040"/>
          </a:xfrm>
          <a:prstGeom prst="roundRect">
            <a:avLst>
              <a:gd name="adj" fmla="val 17143"/>
            </a:avLst>
          </a:prstGeom>
          <a:solidFill>
            <a:srgbClr val="152048"/>
          </a:solidFill>
          <a:ln w="19050">
            <a:solidFill>
              <a:srgbClr val="707FDC"/>
            </a:solidFill>
          </a:ln>
        </p:spPr>
        <p:txBody>
          <a:bodyPr wrap="square" lIns="50800" tIns="127000" rIns="127000" bIns="508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Port allocation: sequential from configurable pool. Each service gets a unique listener port.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B8FB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3-Stack Demo Architecture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&lt;-&gt; B &lt;-&gt; C topology — B is transit, no direct A-C peering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280160"/>
            <a:ext cx="2011680" cy="2743200"/>
          </a:xfrm>
          <a:prstGeom prst="rect">
            <a:avLst>
              <a:gd name="adj" fmla="val 4545"/>
            </a:avLst>
          </a:prstGeom>
          <a:solidFill>
            <a:srgbClr val="152048"/>
          </a:solidFill>
          <a:ln w="19050">
            <a:solidFill>
              <a:srgbClr val="0183CA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731520" y="12801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183C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Stack 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68680" y="1645920"/>
            <a:ext cx="1737360" cy="347472"/>
          </a:xfrm>
          <a:prstGeom prst="roundRect">
            <a:avLst>
              <a:gd name="adj" fmla="val 21053"/>
            </a:avLst>
          </a:prstGeom>
          <a:solidFill>
            <a:srgbClr val="152048"/>
          </a:solidFill>
          <a:ln w="15240">
            <a:solidFill>
              <a:srgbClr val="F8A45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Auth-A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68680" y="2103120"/>
            <a:ext cx="1737360" cy="347472"/>
          </a:xfrm>
          <a:prstGeom prst="roundRect">
            <a:avLst>
              <a:gd name="adj" fmla="val 21053"/>
            </a:avLst>
          </a:prstGeom>
          <a:solidFill>
            <a:srgbClr val="152048"/>
          </a:solidFill>
          <a:ln w="15240">
            <a:solidFill>
              <a:srgbClr val="0183C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Orchestrator-A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68680" y="2560320"/>
            <a:ext cx="1737360" cy="347472"/>
          </a:xfrm>
          <a:prstGeom prst="roundRect">
            <a:avLst>
              <a:gd name="adj" fmla="val 21053"/>
            </a:avLst>
          </a:prstGeom>
          <a:solidFill>
            <a:srgbClr val="152048"/>
          </a:solidFill>
          <a:ln w="15240">
            <a:solidFill>
              <a:srgbClr val="707FD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Envoy (xDS)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68680" y="3017520"/>
            <a:ext cx="1737360" cy="347472"/>
          </a:xfrm>
          <a:prstGeom prst="roundRect">
            <a:avLst>
              <a:gd name="adj" fmla="val 21053"/>
            </a:avLst>
          </a:prstGeom>
          <a:solidFill>
            <a:srgbClr val="152048"/>
          </a:solidFill>
          <a:ln w="15240">
            <a:solidFill>
              <a:srgbClr val="707FD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Envoy Proxy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68680" y="3474720"/>
            <a:ext cx="1737360" cy="347472"/>
          </a:xfrm>
          <a:prstGeom prst="roundRect">
            <a:avLst>
              <a:gd name="adj" fmla="val 21053"/>
            </a:avLst>
          </a:prstGeom>
          <a:solidFill>
            <a:srgbClr val="152048"/>
          </a:solidFill>
          <a:ln w="15240">
            <a:solidFill>
              <a:srgbClr val="39A5D8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books-a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566160" y="1280160"/>
            <a:ext cx="2011680" cy="2743200"/>
          </a:xfrm>
          <a:prstGeom prst="rect">
            <a:avLst>
              <a:gd name="adj" fmla="val 4545"/>
            </a:avLst>
          </a:prstGeom>
          <a:solidFill>
            <a:srgbClr val="152048"/>
          </a:solidFill>
          <a:ln w="19050">
            <a:solidFill>
              <a:srgbClr val="39A5D8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3566160" y="12801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9A5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Stack B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703320" y="1645920"/>
            <a:ext cx="1737360" cy="347472"/>
          </a:xfrm>
          <a:prstGeom prst="roundRect">
            <a:avLst>
              <a:gd name="adj" fmla="val 21053"/>
            </a:avLst>
          </a:prstGeom>
          <a:solidFill>
            <a:srgbClr val="152048"/>
          </a:solidFill>
          <a:ln w="15240">
            <a:solidFill>
              <a:srgbClr val="F8A45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Auth-B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703320" y="2103120"/>
            <a:ext cx="1737360" cy="347472"/>
          </a:xfrm>
          <a:prstGeom prst="roundRect">
            <a:avLst>
              <a:gd name="adj" fmla="val 21053"/>
            </a:avLst>
          </a:prstGeom>
          <a:solidFill>
            <a:srgbClr val="152048"/>
          </a:solidFill>
          <a:ln w="15240">
            <a:solidFill>
              <a:srgbClr val="0183C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Orchestrator-B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703320" y="2560320"/>
            <a:ext cx="1737360" cy="347472"/>
          </a:xfrm>
          <a:prstGeom prst="roundRect">
            <a:avLst>
              <a:gd name="adj" fmla="val 21053"/>
            </a:avLst>
          </a:prstGeom>
          <a:solidFill>
            <a:srgbClr val="152048"/>
          </a:solidFill>
          <a:ln w="15240">
            <a:solidFill>
              <a:srgbClr val="707FD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Envoy (xDS)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703320" y="3017520"/>
            <a:ext cx="1737360" cy="347472"/>
          </a:xfrm>
          <a:prstGeom prst="roundRect">
            <a:avLst>
              <a:gd name="adj" fmla="val 21053"/>
            </a:avLst>
          </a:prstGeom>
          <a:solidFill>
            <a:srgbClr val="152048"/>
          </a:solidFill>
          <a:ln w="15240">
            <a:solidFill>
              <a:srgbClr val="707FD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Envoy Proxy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703320" y="3474720"/>
            <a:ext cx="1737360" cy="347472"/>
          </a:xfrm>
          <a:prstGeom prst="roundRect">
            <a:avLst>
              <a:gd name="adj" fmla="val 21053"/>
            </a:avLst>
          </a:prstGeom>
          <a:solidFill>
            <a:srgbClr val="152048"/>
          </a:solidFill>
          <a:ln w="15240">
            <a:solidFill>
              <a:srgbClr val="39A5D8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books-b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0" y="1280160"/>
            <a:ext cx="2011680" cy="2743200"/>
          </a:xfrm>
          <a:prstGeom prst="rect">
            <a:avLst>
              <a:gd name="adj" fmla="val 4545"/>
            </a:avLst>
          </a:prstGeom>
          <a:solidFill>
            <a:srgbClr val="152048"/>
          </a:solidFill>
          <a:ln w="19050">
            <a:solidFill>
              <a:srgbClr val="F8A451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6400800" y="12801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A4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Stack C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537960" y="1645920"/>
            <a:ext cx="1737360" cy="347472"/>
          </a:xfrm>
          <a:prstGeom prst="roundRect">
            <a:avLst>
              <a:gd name="adj" fmla="val 21053"/>
            </a:avLst>
          </a:prstGeom>
          <a:solidFill>
            <a:srgbClr val="152048"/>
          </a:solidFill>
          <a:ln w="15240">
            <a:solidFill>
              <a:srgbClr val="F8A45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Auth-C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537960" y="2103120"/>
            <a:ext cx="1737360" cy="347472"/>
          </a:xfrm>
          <a:prstGeom prst="roundRect">
            <a:avLst>
              <a:gd name="adj" fmla="val 21053"/>
            </a:avLst>
          </a:prstGeom>
          <a:solidFill>
            <a:srgbClr val="152048"/>
          </a:solidFill>
          <a:ln w="15240">
            <a:solidFill>
              <a:srgbClr val="0183C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Orchestrator-C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537960" y="2560320"/>
            <a:ext cx="1737360" cy="347472"/>
          </a:xfrm>
          <a:prstGeom prst="roundRect">
            <a:avLst>
              <a:gd name="adj" fmla="val 21053"/>
            </a:avLst>
          </a:prstGeom>
          <a:solidFill>
            <a:srgbClr val="152048"/>
          </a:solidFill>
          <a:ln w="15240">
            <a:solidFill>
              <a:srgbClr val="707FD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Envoy (xDS)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537960" y="3017520"/>
            <a:ext cx="1737360" cy="347472"/>
          </a:xfrm>
          <a:prstGeom prst="roundRect">
            <a:avLst>
              <a:gd name="adj" fmla="val 21053"/>
            </a:avLst>
          </a:prstGeom>
          <a:solidFill>
            <a:srgbClr val="152048"/>
          </a:solidFill>
          <a:ln w="15240">
            <a:solidFill>
              <a:srgbClr val="707FD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Envoy Proxy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537960" y="3474720"/>
            <a:ext cx="1737360" cy="347472"/>
          </a:xfrm>
          <a:prstGeom prst="roundRect">
            <a:avLst>
              <a:gd name="adj" fmla="val 21053"/>
            </a:avLst>
          </a:prstGeom>
          <a:solidFill>
            <a:srgbClr val="152048"/>
          </a:solidFill>
          <a:ln w="15240">
            <a:solidFill>
              <a:srgbClr val="39A5D8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curl-client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743200" y="2276856"/>
            <a:ext cx="3657600" cy="914"/>
          </a:xfrm>
          <a:prstGeom prst="line">
            <a:avLst/>
          </a:prstGeom>
          <a:noFill/>
          <a:ln w="12700">
            <a:solidFill>
              <a:srgbClr val="0183CA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2743200" y="2093976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183C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orchestrator-mesh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2743200" y="3191256"/>
            <a:ext cx="3657600" cy="914"/>
          </a:xfrm>
          <a:prstGeom prst="line">
            <a:avLst/>
          </a:prstGeom>
          <a:noFill/>
          <a:ln w="12700">
            <a:solidFill>
              <a:srgbClr val="707FDC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2743200" y="3218688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07F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envoy-mesh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548640" y="4160520"/>
            <a:ext cx="8046720" cy="274320"/>
          </a:xfrm>
          <a:prstGeom prst="roundRect">
            <a:avLst>
              <a:gd name="adj" fmla="val 20000"/>
            </a:avLst>
          </a:prstGeom>
          <a:solidFill>
            <a:srgbClr val="152048"/>
          </a:solidFill>
          <a:ln w="19050">
            <a:solidFill>
              <a:srgbClr val="6DCFF6"/>
            </a:solidFill>
          </a:ln>
        </p:spPr>
        <p:txBody>
          <a:bodyPr wrap="square" lIns="50800" tIns="127000" rIns="127000" bIns="508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&lt;-&gt; B  and  B &lt;-&gt; C  (B is transit node)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B8FB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Docker Networks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Strict isolation — control plane and data plane never cross stacks except via mesh</a:t>
            </a:r>
            <a:endParaRPr lang="en-US" sz="1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80467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01168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Network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83C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Type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83C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Connects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83C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Subnet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83C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stack-a-control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Control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auth-a, orch-a, envoy-svc-a, envoy-proxy-a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172.28.1.0/28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stack-a-data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envoy-proxy-a, books-a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172.28.1.16/28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stack-b-control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Control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auth-b, orch-b, envoy-svc-b, envoy-proxy-b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172.28.2.0/28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stack-b-data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envoy-proxy-b, books-b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172.28.2.16/28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stack-c-control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Control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auth-c, orch-c, envoy-svc-c, envoy-proxy-c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172.28.3.0/28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stack-c-data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envoy-proxy-c, curl-client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172.28.3.16/28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orchestrator-mesh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Cross-stack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orch-a, orch-b, orch-c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172.28.10.0/28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envoy-mesh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Cross-stack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envoy-proxy-a, envoy-proxy-b, envoy-proxy-c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172.28.11.0/28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657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Design Principles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3931920"/>
            <a:ext cx="8229600" cy="1243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 services are stack-local only (no cross-stack auth access)</a:t>
            </a:r>
            <a:endParaRPr lang="en-US" sz="12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Downstream services (books, curl) cannot reach other stacks</a:t>
            </a:r>
            <a:endParaRPr lang="en-US" sz="12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orchestrators and envoy proxies join cross-stack meshes</a:t>
            </a:r>
            <a:endParaRPr lang="en-US" sz="12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 plane mesh (BGP) and data plane mesh (traffic) are separate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B8FB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Walkthrough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cold start to cross-node GraphQL query in 8 steps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2D4BA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05840" y="12344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 Auth Services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05840" y="150876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stack mints its own system admin token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210312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2D4BA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21031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Extract System Tokens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237744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Parse tokens from container logs for CLI use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297180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2D4BA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05840" y="297180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 Full Stacks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05840" y="324612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containers across 8 networks come up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384048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0183C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05840" y="38404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Register Routes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05840" y="411480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books-a on Stack A, books-b on Stack B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754880" y="123444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0183C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212080" y="12344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Mint Peer Tokens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212080" y="150876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Cross-auth token exchange for A&lt;-&gt;B, B&lt;-&gt;C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754880" y="210312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0183C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212080" y="21031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Create Peer Connections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212080" y="237744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iBGP sessions establish, full table sync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754880" y="297180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6DCFF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212080" y="297180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Verify Route Propagation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212080" y="324612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Stack C learns both books-a and books-b via transit B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754880" y="384048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6DCFF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212080" y="38404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Traffic Test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212080" y="411480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curl from Stack C queries books-a on Stack A (2-hop)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B8FB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Multi-Hop: C -&gt; B -&gt; 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request from Stack C reaches a service on Stack A through transit node B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82880" y="1371600"/>
            <a:ext cx="1463040" cy="548640"/>
          </a:xfrm>
          <a:prstGeom prst="roundRect">
            <a:avLst>
              <a:gd name="adj" fmla="val 13333"/>
            </a:avLst>
          </a:prstGeom>
          <a:solidFill>
            <a:srgbClr val="152048"/>
          </a:solidFill>
          <a:ln w="15240">
            <a:solidFill>
              <a:srgbClr val="F8A45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curl-client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(Stack C)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645920" y="1645920"/>
            <a:ext cx="274320" cy="914"/>
          </a:xfrm>
          <a:prstGeom prst="line">
            <a:avLst/>
          </a:prstGeom>
          <a:noFill/>
          <a:ln w="15240">
            <a:solidFill>
              <a:srgbClr val="F8A451"/>
            </a:solidFill>
            <a:prstDash val="solid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1920240" y="1371600"/>
            <a:ext cx="1463040" cy="548640"/>
          </a:xfrm>
          <a:prstGeom prst="roundRect">
            <a:avLst>
              <a:gd name="adj" fmla="val 13333"/>
            </a:avLst>
          </a:prstGeom>
          <a:solidFill>
            <a:srgbClr val="152048"/>
          </a:solidFill>
          <a:ln w="15240">
            <a:solidFill>
              <a:srgbClr val="707FD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envoy-proxy-c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(egress)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83280" y="1645920"/>
            <a:ext cx="274320" cy="914"/>
          </a:xfrm>
          <a:prstGeom prst="line">
            <a:avLst/>
          </a:prstGeom>
          <a:noFill/>
          <a:ln w="15240">
            <a:solidFill>
              <a:srgbClr val="707FDC"/>
            </a:solidFill>
            <a:prstDash val="solid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3657600" y="1371600"/>
            <a:ext cx="1463040" cy="548640"/>
          </a:xfrm>
          <a:prstGeom prst="roundRect">
            <a:avLst>
              <a:gd name="adj" fmla="val 13333"/>
            </a:avLst>
          </a:prstGeom>
          <a:solidFill>
            <a:srgbClr val="152048"/>
          </a:solidFill>
          <a:ln w="15240">
            <a:solidFill>
              <a:srgbClr val="707FD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envoy-proxy-b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(transit)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120640" y="1645920"/>
            <a:ext cx="274320" cy="914"/>
          </a:xfrm>
          <a:prstGeom prst="line">
            <a:avLst/>
          </a:prstGeom>
          <a:noFill/>
          <a:ln w="15240">
            <a:solidFill>
              <a:srgbClr val="707FDC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5394960" y="1371600"/>
            <a:ext cx="1463040" cy="548640"/>
          </a:xfrm>
          <a:prstGeom prst="roundRect">
            <a:avLst>
              <a:gd name="adj" fmla="val 13333"/>
            </a:avLst>
          </a:prstGeom>
          <a:solidFill>
            <a:srgbClr val="152048"/>
          </a:solidFill>
          <a:ln w="15240">
            <a:solidFill>
              <a:srgbClr val="707FD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envoy-proxy-a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(ingress)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858000" y="1645920"/>
            <a:ext cx="274320" cy="914"/>
          </a:xfrm>
          <a:prstGeom prst="line">
            <a:avLst/>
          </a:prstGeom>
          <a:noFill/>
          <a:ln w="15240">
            <a:solidFill>
              <a:srgbClr val="39A5D8"/>
            </a:solidFill>
            <a:prstDash val="solid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7132320" y="1371600"/>
            <a:ext cx="1280160" cy="548640"/>
          </a:xfrm>
          <a:prstGeom prst="roundRect">
            <a:avLst>
              <a:gd name="adj" fmla="val 13333"/>
            </a:avLst>
          </a:prstGeom>
          <a:solidFill>
            <a:srgbClr val="152048"/>
          </a:solidFill>
          <a:ln w="15240">
            <a:solidFill>
              <a:srgbClr val="39A5D8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books-a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:8080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0" y="1938528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07F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envoy-mesh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920240" y="2066544"/>
            <a:ext cx="4937760" cy="914"/>
          </a:xfrm>
          <a:prstGeom prst="line">
            <a:avLst/>
          </a:prstGeom>
          <a:noFill/>
          <a:ln w="12700">
            <a:solidFill>
              <a:srgbClr val="707FDC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548640" y="23317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Port Rewriting at Each Hop</a:t>
            </a:r>
            <a:endParaRPr lang="en-US" sz="14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651760"/>
          <a:ext cx="8046720" cy="914400"/>
        </p:xfrm>
        <a:graphic>
          <a:graphicData uri="http://schemas.openxmlformats.org/drawingml/2006/table">
            <a:tbl>
              <a:tblPr/>
              <a:tblGrid>
                <a:gridCol w="1609344"/>
                <a:gridCol w="1609344"/>
                <a:gridCol w="1609344"/>
                <a:gridCol w="1609344"/>
                <a:gridCol w="160934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Node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83C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nodePath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83C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envoyPort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83C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Target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83C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Role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83C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Stack C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["node-b", "node-a"]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10012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envoy-proxy-b:10012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Egress (2 hops)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Stack B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["node-a"]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10001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envoy-proxy-a:10001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Transit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Stack A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[]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10001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books:8080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Ingress (origin)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</a:tr>
            </a:tbl>
          </a:graphicData>
        </a:graphic>
      </p:graphicFrame>
      <p:sp>
        <p:nvSpPr>
          <p:cNvPr id="17" name="Text 14"/>
          <p:cNvSpPr/>
          <p:nvPr/>
        </p:nvSpPr>
        <p:spPr>
          <a:xfrm>
            <a:off x="548640" y="3794760"/>
            <a:ext cx="8046720" cy="411480"/>
          </a:xfrm>
          <a:prstGeom prst="roundRect">
            <a:avLst>
              <a:gd name="adj" fmla="val 13333"/>
            </a:avLst>
          </a:prstGeom>
          <a:solidFill>
            <a:srgbClr val="152048"/>
          </a:solidFill>
          <a:ln w="19050">
            <a:solidFill>
              <a:srgbClr val="707FDC"/>
            </a:solidFill>
          </a:ln>
        </p:spPr>
        <p:txBody>
          <a:bodyPr wrap="square" lIns="50800" tIns="127000" rIns="127000" bIns="508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node re-advertises routes with its own egress port. The nodePath grows at each hop, enabling loop detection.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B8FB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Summary &amp; What's Next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0" y="2743200"/>
            <a:ext cx="3657600" cy="3657600"/>
          </a:xfrm>
          <a:prstGeom prst="ellipse">
            <a:avLst/>
          </a:prstGeom>
          <a:noFill/>
          <a:ln w="7620">
            <a:solidFill>
              <a:srgbClr val="2D4BA9"/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914" cy="3017520"/>
          </a:xfrm>
          <a:prstGeom prst="line">
            <a:avLst/>
          </a:prstGeom>
          <a:noFill/>
          <a:ln w="12700">
            <a:solidFill>
              <a:srgbClr val="2D4BA9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548640" y="10515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CF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Built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463040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 BGP-inspired service discovery (iBGP)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828800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 Action/reducer event-sourced state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2194560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 ES384 JWT + Cedar authorization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2560320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 Envoy xDS data plane (LDS + CDS)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926080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 Multi-hop cross-node routing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3291840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 3-stack demo with full isolation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46320" y="10515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83C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What's Next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846320" y="1463040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mTLS channel binding (RFC 8705)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46320" y="1828800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eBGP for cross-domain federation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46320" y="2194560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RDS/EDS for advanced traffic mgmt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46320" y="2560320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Certificate rotation automation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846320" y="2926080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GraphQL federation over the mesh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846320" y="3291840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Keepalive / hold timer support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3931920"/>
            <a:ext cx="8046720" cy="365760"/>
          </a:xfrm>
          <a:prstGeom prst="roundRect">
            <a:avLst>
              <a:gd name="adj" fmla="val 15000"/>
            </a:avLst>
          </a:prstGeom>
          <a:solidFill>
            <a:srgbClr val="152048"/>
          </a:solidFill>
          <a:ln w="19050">
            <a:solidFill>
              <a:srgbClr val="0183CA"/>
            </a:solidFill>
          </a:ln>
        </p:spPr>
        <p:txBody>
          <a:bodyPr wrap="square" lIns="50800" tIns="127000" rIns="127000" bIns="508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Catalyst Router — Distributed service mesh, one node at a time.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B8FB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Catalyst Router</dc:title>
  <dc:subject>Architecture &amp; Demo Walkthrough</dc:subject>
  <dc:creator>Orbis</dc:creator>
  <cp:lastModifiedBy>Orbis</cp:lastModifiedBy>
  <cp:revision>1</cp:revision>
  <dcterms:created xsi:type="dcterms:W3CDTF">2026-02-12T20:33:52Z</dcterms:created>
  <dcterms:modified xsi:type="dcterms:W3CDTF">2026-02-12T20:33:52Z</dcterms:modified>
</cp:coreProperties>
</file>